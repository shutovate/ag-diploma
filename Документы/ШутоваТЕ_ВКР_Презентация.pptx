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7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278F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1947FD-A716-4211-B699-A6B086DF38C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70F4F-2F34-482B-84FB-D4CE52A251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598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6156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0569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9289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8CCF1-2E77-4A64-BE02-C09C5E2EF7D6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58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32B67-2CD8-4589-92DA-D7A9F79848EC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8745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2369D-8065-4D88-B6A2-4381169300B4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00458" y="6459786"/>
            <a:ext cx="1312025" cy="284964"/>
          </a:xfrm>
        </p:spPr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033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98903-934B-48B1-B309-7133B8C2317F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489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0CEC3-8E6A-4101-BD09-1EDEBE0AD976}" type="datetime1">
              <a:rPr lang="ru-RU" smtClean="0"/>
              <a:t>26.05.2026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998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7ECA8-7729-43DA-9049-C18FF7AF25A0}" type="datetime1">
              <a:rPr lang="ru-RU" smtClean="0"/>
              <a:t>26.05.2026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71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20CC8-A20C-4249-A4FF-9317780A4016}" type="datetime1">
              <a:rPr lang="ru-RU" smtClean="0"/>
              <a:t>26.05.2026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8490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3F4CBAE-B1F8-40CB-AD59-6F3058F975C3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4178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91FD1-542C-4091-A7C0-C725AC3A2669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615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2E66F-F12B-4C89-AC80-BE33EC31B25F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423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344DE-D35A-4CDF-86CF-34C99E2DD5D4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61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C59E107-6F98-4091-AB69-2D0030021222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sz="2000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958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99924-F31C-7B0C-CCDA-63B2D8EA4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215990"/>
            <a:ext cx="10058400" cy="2109121"/>
          </a:xfrm>
        </p:spPr>
        <p:txBody>
          <a:bodyPr>
            <a:normAutofit/>
          </a:bodyPr>
          <a:lstStyle/>
          <a:p>
            <a:pPr algn="ctr"/>
            <a:r>
              <a:rPr lang="ru-RU" sz="4400" dirty="0"/>
              <a:t>Информационная система арт галереи. Модуль рекомендаций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501F58-6FDB-84F7-7677-08F2971BC435}"/>
              </a:ext>
            </a:extLst>
          </p:cNvPr>
          <p:cNvSpPr/>
          <p:nvPr/>
        </p:nvSpPr>
        <p:spPr>
          <a:xfrm>
            <a:off x="0" y="0"/>
            <a:ext cx="12192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Министерство науки и высшего образования Российской Федерации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Федеральное государственное бюджетное образовательное учреждение высшего образования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«Владимирский государственный университет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имени Александра Григорьевича и Николая Григорьевича Столетовых»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(</a:t>
            </a:r>
            <a:r>
              <a:rPr lang="ru-RU" sz="1200" cap="all" spc="200" dirty="0" err="1">
                <a:solidFill>
                  <a:schemeClr val="tx2"/>
                </a:solidFill>
                <a:latin typeface="+mj-lt"/>
              </a:rPr>
              <a:t>ВлГу</a:t>
            </a: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)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endParaRPr lang="ru-RU" sz="1200" cap="all" spc="200" dirty="0">
              <a:solidFill>
                <a:schemeClr val="tx2"/>
              </a:solidFill>
              <a:latin typeface="+mj-lt"/>
            </a:endParaRP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Институт информационных технологий и электроники</a:t>
            </a:r>
          </a:p>
          <a:p>
            <a:pPr algn="ctr"/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Кафедра информационных систем и программной инженерии</a:t>
            </a:r>
            <a:endParaRPr lang="ru-RU" cap="all" spc="2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8C408A93-475B-1FD4-64D3-C2E8E98A6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138" y="4456113"/>
            <a:ext cx="10058400" cy="1143000"/>
          </a:xfrm>
        </p:spPr>
        <p:txBody>
          <a:bodyPr anchor="ctr">
            <a:norm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dirty="0"/>
              <a:t>Выполнил: Студент группы ПРИ-122 Шутова Т.Е.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dirty="0"/>
              <a:t>Руководитель: к.т.н., доцент кафедры ИСПИ </a:t>
            </a:r>
            <a:r>
              <a:rPr lang="ru-RU" sz="1200" dirty="0" err="1"/>
              <a:t>Влгу</a:t>
            </a:r>
            <a:r>
              <a:rPr lang="ru-RU" sz="1200" dirty="0"/>
              <a:t> Озерова М.И.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FBE912C-EA89-3318-B8BA-83F841851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5174338-6AB2-2C5B-3C21-2681AC7B2071}"/>
              </a:ext>
            </a:extLst>
          </p:cNvPr>
          <p:cNvSpPr/>
          <p:nvPr/>
        </p:nvSpPr>
        <p:spPr>
          <a:xfrm>
            <a:off x="30480" y="5952565"/>
            <a:ext cx="12192000" cy="3407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2026</a:t>
            </a:r>
            <a:endParaRPr lang="ru-RU" cap="all" spc="200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9099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6D48C4-4E13-2E91-223B-0E8502C5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314DA1-0CCA-8066-3A86-D4A81919E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2400" dirty="0"/>
              <a:t>В рамках выпускной квалификационной работы разработана информационная система для цифровой арт-галереи. ВКР включает анализ предметной области, проектирование архитектуры и реализацию серверной части с модулем интеллектуальных рекомендаций. </a:t>
            </a:r>
          </a:p>
          <a:p>
            <a:r>
              <a:rPr lang="ru-RU" sz="2400" dirty="0"/>
              <a:t>Система обеспечивает публикацию и каталогизацию произведений искусства, управление профилями и выставками, а также персонализированные рекомендации на основе гибридного алгоритма машинного обучения (коллаборативная фильтрация SVD и контентная фильтрация TF-IDF) и сервиса поиска визуально похожих изображений. </a:t>
            </a:r>
          </a:p>
          <a:p>
            <a:r>
              <a:rPr lang="ru-RU" sz="2400" dirty="0"/>
              <a:t>Модуль интегрирован в Java-приложение через Python-скрипты. Особое внимание уделено оптимизации серверных компонентов для высокой производительности и безопасности. </a:t>
            </a:r>
          </a:p>
          <a:p>
            <a:r>
              <a:rPr lang="ru-RU" sz="2400" dirty="0"/>
              <a:t>Результат — готовое решение для арт-пространств, расширяющее аудиторию и улучшающее представление произведений в цифровой среде.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572523-24B1-5E3B-4981-A4BFD5C89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450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0CE555DC-31A3-B320-02A4-8BB38FC13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463F2928-0049-978E-540C-4E1E2ABB29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sz="4000" dirty="0"/>
              <a:t>Цель:</a:t>
            </a:r>
          </a:p>
          <a:p>
            <a:pPr marL="358775" indent="-358775">
              <a:buFont typeface="Calibri" panose="020F0502020204030204" pitchFamily="34" charset="0"/>
              <a:buChar char="―"/>
            </a:pPr>
            <a:r>
              <a:rPr lang="ru-RU" sz="2900" dirty="0"/>
              <a:t>Улучшение пользовательского опыта за счёт рекомендательной системы</a:t>
            </a:r>
          </a:p>
          <a:p>
            <a:pPr marL="91440" marR="0" lvl="0" indent="-9144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 "/>
              <a:tabLst/>
              <a:defRPr/>
            </a:pPr>
            <a:r>
              <a:rPr kumimoji="0" lang="ru-RU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Задачи: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Провести анализ подходов к построению рекомендательных систем.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Разработать алгоритм гибридных рекомендаций, 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Реализовать на Python модуль для подготовки данных, обучения модели и формирования рекомендаций.</a:t>
            </a:r>
          </a:p>
          <a:p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9C45EB7-5953-512D-D3C1-ABE5C855EF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Интегрировать Python-модуль в Java-приложение через вызов скриптов с передачей данных в формате JSON.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Реализовать механизм рандомизированной выдачи рекомендаций: выбирать 12 из топ-50 и 8 из схожих работ для разнообразия.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Обеспечить возможность ручного и автоматического переобучения модели и </a:t>
            </a:r>
            <a:r>
              <a:rPr lang="ru-RU" dirty="0" err="1"/>
              <a:t>пересканирования</a:t>
            </a:r>
            <a:r>
              <a:rPr lang="ru-RU" dirty="0"/>
              <a:t> изображений.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Оценить качество работы модели с использованием метрик Precision@5, Recall@5 и </a:t>
            </a:r>
            <a:r>
              <a:rPr lang="ru-RU" dirty="0" err="1"/>
              <a:t>Coverage</a:t>
            </a:r>
            <a:r>
              <a:rPr lang="ru-RU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1CBE91-E0ED-C730-4884-94477144D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5719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C066B7-8D19-0C96-CC84-86DE7A123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Сравнительный анализ</a:t>
            </a:r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5B5DB4D0-00FB-C719-F692-D09FF6054B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2521323"/>
              </p:ext>
            </p:extLst>
          </p:nvPr>
        </p:nvGraphicFramePr>
        <p:xfrm>
          <a:off x="546100" y="1968501"/>
          <a:ext cx="11353800" cy="4127494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2468316">
                  <a:extLst>
                    <a:ext uri="{9D8B030D-6E8A-4147-A177-3AD203B41FA5}">
                      <a16:colId xmlns:a16="http://schemas.microsoft.com/office/drawing/2014/main" val="3863265550"/>
                    </a:ext>
                  </a:extLst>
                </a:gridCol>
                <a:gridCol w="2304823">
                  <a:extLst>
                    <a:ext uri="{9D8B030D-6E8A-4147-A177-3AD203B41FA5}">
                      <a16:colId xmlns:a16="http://schemas.microsoft.com/office/drawing/2014/main" val="999227942"/>
                    </a:ext>
                  </a:extLst>
                </a:gridCol>
                <a:gridCol w="1943770">
                  <a:extLst>
                    <a:ext uri="{9D8B030D-6E8A-4147-A177-3AD203B41FA5}">
                      <a16:colId xmlns:a16="http://schemas.microsoft.com/office/drawing/2014/main" val="1670632162"/>
                    </a:ext>
                  </a:extLst>
                </a:gridCol>
                <a:gridCol w="2147691">
                  <a:extLst>
                    <a:ext uri="{9D8B030D-6E8A-4147-A177-3AD203B41FA5}">
                      <a16:colId xmlns:a16="http://schemas.microsoft.com/office/drawing/2014/main" val="1964260055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2002662928"/>
                    </a:ext>
                  </a:extLst>
                </a:gridCol>
              </a:tblGrid>
              <a:tr h="287896"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Критерий / Платформа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Pinterest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DeviantArt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ArtStation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Разр. ИС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93432279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Фокус на искусстве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Визуальный агрегатор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Сообщество художников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Профессиональные цифровые художники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Арт-галерея, сообщество художников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53037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Премодерация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Нет (жалобы)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Выборочная, жалобы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Нет (жалобы)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На основе нейронной сети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674720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Лайки / Комментарии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(сохранения) / Ограниченно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4561113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Категории/Теги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Теги, доски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Категории, 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Теги, проекты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357842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Коллекции 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Доски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Галереи, коллекции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Проекты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Выставки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085000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Профиль как портфолио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Сборник досок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Очень 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995718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Монетизация/Продажи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Партнерские ссылки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Продажа принтов, комиссии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Продажа работ, найм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Партнерские ссылки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53280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Тип рекомендаций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похожие пины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подписки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Гибридный (SVD + TF‑IDF) + визуальное сходство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408536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E09251-7268-8FEF-9DE7-6917D7BD8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3165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3A8755-0130-D4B6-027D-22F052522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требований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82F806B-A155-66D8-DE8E-4E08301926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Требования к веб-приложению: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Регистрация, аутентификация, роли (Художник, Администратор, Посетитель)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Загрузка работ → автоматическая модерация → сканирование визуальных признаков → общий доступ в случае успеха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Лайки, комментарии, создание выставок (публичных / приватных)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REST API для веб-клиента</a:t>
            </a:r>
          </a:p>
          <a:p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C88F961-E0C8-078A-A5D8-66777C0880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Требования к модулю рекомендаций: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Гибридный алгоритм: SVD + TF‑IDF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Визуальные признаки: </a:t>
            </a:r>
            <a:r>
              <a:rPr lang="ru-RU" sz="2200" dirty="0" err="1"/>
              <a:t>OpenCLIP</a:t>
            </a:r>
            <a:r>
              <a:rPr lang="ru-RU" sz="2200" dirty="0"/>
              <a:t> и цветовые сходства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Два режима: обучение (офлайн) и </a:t>
            </a:r>
            <a:r>
              <a:rPr lang="ru-RU" sz="2200" dirty="0" err="1"/>
              <a:t>инференс</a:t>
            </a:r>
            <a:r>
              <a:rPr lang="ru-RU" sz="2200" dirty="0"/>
              <a:t> (топ‑50 → выбор 12)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Интеграция с Java через </a:t>
            </a:r>
            <a:r>
              <a:rPr lang="ru-RU" sz="2200" dirty="0" err="1"/>
              <a:t>ProcessBuilder</a:t>
            </a:r>
            <a:r>
              <a:rPr lang="ru-RU" sz="2200" dirty="0"/>
              <a:t> (JSON)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Метрики: Precision@5 ≥ 0,2, Recall@5 ≥ 0,5, время </a:t>
            </a:r>
            <a:r>
              <a:rPr lang="ru-RU" sz="2200" dirty="0" err="1"/>
              <a:t>инференса</a:t>
            </a:r>
            <a:r>
              <a:rPr lang="ru-RU" sz="2200" dirty="0"/>
              <a:t> ≤ 5 с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5E0E28-025B-D517-37E0-0CFA318FC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5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8334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1CCD48-276A-2EE9-CE5C-C514E1C1F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A0CBF1-86E0-4C19-2308-D107F08AC4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Пользователи: Посетитель (неавторизованный пользователь), Художник (авторизованный пользователь), Администратор </a:t>
            </a:r>
            <a:endParaRPr lang="en-US" sz="2400" dirty="0"/>
          </a:p>
          <a:p>
            <a:r>
              <a:rPr lang="ru-RU" sz="2400" dirty="0"/>
              <a:t>Веб-приложение:</a:t>
            </a:r>
            <a:r>
              <a:rPr lang="en-US" sz="2400" dirty="0"/>
              <a:t> </a:t>
            </a:r>
            <a:r>
              <a:rPr lang="ru-RU" sz="2400" dirty="0"/>
              <a:t>монолит, Java 17, Spring MVC, Spring Security, </a:t>
            </a:r>
            <a:r>
              <a:rPr lang="ru-RU" sz="2400" dirty="0" err="1"/>
              <a:t>Hibernate</a:t>
            </a:r>
            <a:r>
              <a:rPr lang="ru-RU" sz="2400" dirty="0"/>
              <a:t>, MySQL 8.0</a:t>
            </a:r>
            <a:endParaRPr lang="en-US" sz="2400" dirty="0"/>
          </a:p>
          <a:p>
            <a:r>
              <a:rPr lang="ru-RU" sz="2400" dirty="0"/>
              <a:t>Рекомендательная система: </a:t>
            </a:r>
            <a:r>
              <a:rPr lang="en-US" sz="2400" dirty="0"/>
              <a:t>Python 3.11, </a:t>
            </a:r>
            <a:r>
              <a:rPr lang="ru-RU" sz="2400" dirty="0" err="1"/>
              <a:t>pandas</a:t>
            </a:r>
            <a:r>
              <a:rPr lang="ru-RU" sz="2400" dirty="0"/>
              <a:t>, </a:t>
            </a:r>
            <a:r>
              <a:rPr lang="ru-RU" sz="2400" dirty="0" err="1"/>
              <a:t>numpy</a:t>
            </a:r>
            <a:r>
              <a:rPr lang="ru-RU" sz="2400" dirty="0"/>
              <a:t>, </a:t>
            </a:r>
            <a:r>
              <a:rPr lang="ru-RU" sz="2400" dirty="0" err="1"/>
              <a:t>scikit-learn</a:t>
            </a:r>
            <a:r>
              <a:rPr lang="ru-RU" sz="2400" dirty="0"/>
              <a:t>, </a:t>
            </a:r>
            <a:r>
              <a:rPr lang="ru-RU" sz="2400" dirty="0" err="1"/>
              <a:t>open_clip_torch</a:t>
            </a:r>
            <a:r>
              <a:rPr lang="ru-RU" sz="2400" dirty="0"/>
              <a:t>, </a:t>
            </a:r>
            <a:r>
              <a:rPr lang="ru-RU" sz="2400" dirty="0" err="1"/>
              <a:t>torch</a:t>
            </a:r>
            <a:r>
              <a:rPr lang="ru-RU" sz="2400" dirty="0"/>
              <a:t>.</a:t>
            </a:r>
            <a:endParaRPr lang="en-US" sz="2400" dirty="0"/>
          </a:p>
          <a:p>
            <a:r>
              <a:rPr lang="ru-RU" sz="2400" dirty="0"/>
              <a:t>Хранилище: </a:t>
            </a:r>
            <a:r>
              <a:rPr lang="en-US" sz="2400" dirty="0" err="1"/>
              <a:t>MinIO</a:t>
            </a:r>
            <a:endParaRPr lang="ru-RU" sz="2400" dirty="0"/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511891-84A7-34F3-32AC-F71331572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6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AC58DA4F-7C1A-FDFD-051A-C232374B5CC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31726" y="1846263"/>
            <a:ext cx="4510149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281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5B7524D4-BD2C-A9BF-7CC0-C41CDFE3E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развёртывания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BF5B2429-155D-DBE7-3DB2-E7BC635C468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1D83149-B3B6-5FCA-5042-3C4F0618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7</a:t>
            </a:fld>
            <a:endParaRPr lang="ru-RU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0EE1963B-B416-4E6A-6A9A-025063B051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253" y="996950"/>
            <a:ext cx="7674843" cy="486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683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31C7AC-1147-1AFA-F28C-CBFE8D3B8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прецедентов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C0CBFA-C917-3B4D-926E-8BCC23E2E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Новые действия: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Три режима просмотра списка публикаций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Обновление рекомендаций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Улучшены детали публикации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Переобучение модели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Сканирование изображений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AEDEE2E-E386-8205-67F6-09EE07447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8</a:t>
            </a:fld>
            <a:endParaRPr lang="ru-RU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CACADA3-D7D9-84DC-68D1-86056C01F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8271" y="33090"/>
            <a:ext cx="4728151" cy="67918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09388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657E5D-D51C-4683-5F15-95305680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</a:t>
            </a:r>
            <a:r>
              <a:rPr lang="ru-RU" dirty="0"/>
              <a:t>диаграмма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EAAD7C-19ED-A2C6-4A3C-06B4494BE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4FB2B-6188-D59E-21C6-166BD2545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9</a:t>
            </a:fld>
            <a:endParaRPr lang="ru-RU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09823867-DBD0-0D29-51CE-A18C1A67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648" y="292558"/>
            <a:ext cx="6034835" cy="627288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0671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69C0576D-ADA0-CF81-521F-F0F003E4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Математическая модель персонализированных рекомендаций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6">
                <a:extLst>
                  <a:ext uri="{FF2B5EF4-FFF2-40B4-BE49-F238E27FC236}">
                    <a16:creationId xmlns:a16="http://schemas.microsoft.com/office/drawing/2014/main" id="{F5AF4E61-ADA4-794C-D135-81A04610AD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346200" indent="-1346200"/>
                <a:endParaRPr lang="ru-RU" sz="2400" i="1" dirty="0"/>
              </a:p>
              <a:p>
                <a:pPr marL="1346200" indent="-1346200"/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𝑠𝑐𝑜𝑟𝑒</m:t>
                    </m:r>
                    <m:d>
                      <m:d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ru-RU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400">
                        <a:latin typeface="Cambria Math" panose="02040503050406030204" pitchFamily="18" charset="0"/>
                      </a:rPr>
                      <m:t>= </m:t>
                    </m:r>
                    <m:r>
                      <a:rPr lang="ru-RU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 sz="2400">
                        <a:latin typeface="Cambria Math" panose="02040503050406030204" pitchFamily="18" charset="0"/>
                      </a:rPr>
                      <m:t>∗ </m:t>
                    </m:r>
                    <m:f>
                      <m:f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𝑢𝑖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𝑢𝑗</m:t>
                            </m:r>
                          </m:sub>
                        </m:sSub>
                      </m:den>
                    </m:f>
                    <m:r>
                      <a:rPr lang="ru-RU" sz="24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ru-RU" sz="2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400">
                            <a:latin typeface="Cambria Math" panose="02040503050406030204" pitchFamily="18" charset="0"/>
                          </a:rPr>
                          <m:t>1− 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ru-RU" sz="2400">
                        <a:latin typeface="Cambria Math" panose="02040503050406030204" pitchFamily="18" charset="0"/>
                      </a:rPr>
                      <m:t>∗ </m:t>
                    </m:r>
                    <m:f>
                      <m:f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𝑠𝑖𝑚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𝑐𝑜𝑛𝑡𝑒𝑛𝑡</m:t>
                            </m:r>
                          </m:sub>
                        </m:sSub>
                        <m:r>
                          <a:rPr lang="ru-RU" sz="2400">
                            <a:latin typeface="Cambria Math" panose="02040503050406030204" pitchFamily="18" charset="0"/>
                          </a:rPr>
                          <m:t>​</m:t>
                        </m:r>
                        <m:d>
                          <m:d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𝑠𝑖𝑚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𝑐𝑜𝑛𝑡𝑒𝑛𝑡</m:t>
                            </m:r>
                          </m:sub>
                        </m:sSub>
                        <m:r>
                          <a:rPr lang="ru-RU" sz="2400">
                            <a:latin typeface="Cambria Math" panose="02040503050406030204" pitchFamily="18" charset="0"/>
                          </a:rPr>
                          <m:t>​</m:t>
                        </m:r>
                        <m:d>
                          <m:d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den>
                    </m:f>
                    <m:r>
                      <a:rPr lang="ru-RU" sz="2400">
                        <a:latin typeface="Cambria Math" panose="02040503050406030204" pitchFamily="18" charset="0"/>
                      </a:rPr>
                      <m:t> ,</m:t>
                    </m:r>
                  </m:oMath>
                </a14:m>
                <a:endParaRPr lang="ru-RU" sz="2400" dirty="0"/>
              </a:p>
              <a:p>
                <a:r>
                  <a:rPr lang="ru-RU" sz="2400" dirty="0"/>
                  <a:t>где </a:t>
                </a:r>
                <a:r>
                  <a:rPr lang="en-US" sz="2400" i="1" dirty="0"/>
                  <a:t>α </a:t>
                </a:r>
                <a:r>
                  <a:rPr lang="ru-RU" sz="2400" dirty="0"/>
                  <a:t>= 0.6 – коэффициент, определяющий вклад коллаборативной составляющей; </a:t>
                </a:r>
              </a:p>
              <a:p>
                <a:r>
                  <a:rPr lang="ru-RU" sz="2400" dirty="0" err="1"/>
                  <a:t>r</a:t>
                </a:r>
                <a:r>
                  <a:rPr lang="ru-RU" sz="2400" baseline="-25000" dirty="0" err="1"/>
                  <a:t>ui</a:t>
                </a:r>
                <a:r>
                  <a:rPr lang="ru-RU" sz="2400" baseline="-25000" dirty="0"/>
                  <a:t> </a:t>
                </a:r>
                <a:r>
                  <a:rPr lang="ru-RU" sz="2400" dirty="0"/>
                  <a:t>– предсказанный </a:t>
                </a:r>
                <a:r>
                  <a:rPr lang="en-US" sz="2400" dirty="0"/>
                  <a:t>SVD</a:t>
                </a:r>
                <a:r>
                  <a:rPr lang="ru-RU" sz="2400" dirty="0"/>
                  <a:t>-рейтинг;</a:t>
                </a:r>
                <a:r>
                  <a:rPr lang="ru-RU" sz="2400" baseline="-25000" dirty="0"/>
                  <a:t> </a:t>
                </a:r>
                <a:endParaRPr lang="ru-RU" sz="2400" dirty="0"/>
              </a:p>
              <a:p>
                <a:r>
                  <a:rPr lang="en-US" sz="2400" baseline="-25000" dirty="0"/>
                  <a:t>­</a:t>
                </a:r>
                <a:r>
                  <a:rPr lang="en-US" sz="2400" dirty="0" err="1"/>
                  <a:t>sim</a:t>
                </a:r>
                <a:r>
                  <a:rPr lang="en-US" sz="2400" baseline="-25000" dirty="0" err="1"/>
                  <a:t>content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, L) – </a:t>
                </a:r>
                <a:r>
                  <a:rPr lang="en-US" sz="2400" dirty="0" err="1"/>
                  <a:t>максимальное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косинусное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сходство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работы</a:t>
                </a:r>
                <a:r>
                  <a:rPr lang="en-US" sz="2400" dirty="0"/>
                  <a:t> I с </a:t>
                </a:r>
                <a:r>
                  <a:rPr lang="en-US" sz="2400" dirty="0" err="1"/>
                  <a:t>работами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которые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пользователь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ранее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лайкнул</a:t>
                </a:r>
                <a:r>
                  <a:rPr lang="en-US" sz="2400" dirty="0"/>
                  <a:t> (</a:t>
                </a:r>
                <a:r>
                  <a:rPr lang="en-US" sz="2400" dirty="0" err="1"/>
                  <a:t>множество</a:t>
                </a:r>
                <a:r>
                  <a:rPr lang="en-US" sz="2400" dirty="0"/>
                  <a:t> L</a:t>
                </a:r>
                <a:r>
                  <a:rPr lang="en-US" sz="2400" baseline="-25000" dirty="0"/>
                  <a:t>u</a:t>
                </a:r>
                <a:r>
                  <a:rPr lang="en-US" sz="2400" dirty="0"/>
                  <a:t>).</a:t>
                </a:r>
                <a:endParaRPr lang="ru-RU" sz="2400" dirty="0"/>
              </a:p>
            </p:txBody>
          </p:sp>
        </mc:Choice>
        <mc:Fallback xmlns="">
          <p:sp>
            <p:nvSpPr>
              <p:cNvPr id="7" name="Объект 6">
                <a:extLst>
                  <a:ext uri="{FF2B5EF4-FFF2-40B4-BE49-F238E27FC236}">
                    <a16:creationId xmlns:a16="http://schemas.microsoft.com/office/drawing/2014/main" id="{F5AF4E61-ADA4-794C-D135-81A04610AD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3ABF4D-3A2A-4502-9549-88D254DF3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91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26288A-C798-F4E4-7319-34476907E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обучения модели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6F6F31-5BAD-40DF-07A1-051445A96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02666"/>
          </a:xfrm>
        </p:spPr>
        <p:txBody>
          <a:bodyPr>
            <a:noAutofit/>
          </a:bodyPr>
          <a:lstStyle/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Подключение к MySQL и загрузка одобренных работ, категорий, лайков и комментариев.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Формирование </a:t>
            </a:r>
            <a:r>
              <a:rPr lang="ru-RU" sz="1800" dirty="0" err="1"/>
              <a:t>interactions_df</a:t>
            </a:r>
            <a:r>
              <a:rPr lang="ru-RU" sz="1800" dirty="0"/>
              <a:t> – </a:t>
            </a:r>
            <a:r>
              <a:rPr lang="ru-RU" sz="1800" dirty="0" err="1"/>
              <a:t>датафрейма</a:t>
            </a:r>
            <a:r>
              <a:rPr lang="ru-RU" sz="1800" dirty="0"/>
              <a:t> с колонками </a:t>
            </a:r>
            <a:r>
              <a:rPr lang="ru-RU" sz="1800" dirty="0" err="1"/>
              <a:t>user_id</a:t>
            </a:r>
            <a:r>
              <a:rPr lang="ru-RU" sz="1800" dirty="0"/>
              <a:t>, </a:t>
            </a:r>
            <a:r>
              <a:rPr lang="ru-RU" sz="1800" dirty="0" err="1"/>
              <a:t>artwork_id</a:t>
            </a:r>
            <a:r>
              <a:rPr lang="ru-RU" sz="1800" dirty="0"/>
              <a:t>, </a:t>
            </a:r>
            <a:r>
              <a:rPr lang="ru-RU" sz="1800" dirty="0" err="1"/>
              <a:t>rating</a:t>
            </a:r>
            <a:r>
              <a:rPr lang="ru-RU" sz="1800" dirty="0"/>
              <a:t> (лайк = 1.0, комментарий = 0.5).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Разделение набора взаимодействий на обучающую (75%) и тестовую (25%) выборки.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Построение TF‑IDF матрицы для текстовых строк «автор + категории» и вычисление матрицы косинусного сходства </a:t>
            </a:r>
            <a:r>
              <a:rPr lang="ru-RU" sz="1800" dirty="0" err="1"/>
              <a:t>content_sim</a:t>
            </a:r>
            <a:r>
              <a:rPr lang="ru-RU" sz="1800" dirty="0"/>
              <a:t>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Обучение SVD с помощью класса </a:t>
            </a:r>
            <a:r>
              <a:rPr lang="ru-RU" sz="1800" dirty="0" err="1"/>
              <a:t>SimpleSVD</a:t>
            </a:r>
            <a:r>
              <a:rPr lang="ru-RU" sz="1800" dirty="0"/>
              <a:t> (собственная реализация) на обучающей выборке.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Оценка качества на тестовой выборке с вычислением Precision@5, Recall@5, </a:t>
            </a:r>
            <a:r>
              <a:rPr lang="ru-RU" sz="1800" dirty="0" err="1"/>
              <a:t>Coverage</a:t>
            </a:r>
            <a:r>
              <a:rPr lang="ru-RU" sz="1800" dirty="0"/>
              <a:t>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Сериализация обученной модели (объекты SVD, </a:t>
            </a:r>
            <a:r>
              <a:rPr lang="ru-RU" sz="1800" dirty="0" err="1"/>
              <a:t>content_sim</a:t>
            </a:r>
            <a:r>
              <a:rPr lang="ru-RU" sz="1800" dirty="0"/>
              <a:t>, </a:t>
            </a:r>
            <a:r>
              <a:rPr lang="ru-RU" sz="1800" dirty="0" err="1"/>
              <a:t>artworks_df</a:t>
            </a:r>
            <a:r>
              <a:rPr lang="ru-RU" sz="1800" dirty="0"/>
              <a:t>, </a:t>
            </a:r>
            <a:r>
              <a:rPr lang="ru-RU" sz="1800" dirty="0" err="1"/>
              <a:t>interactions_df</a:t>
            </a:r>
            <a:r>
              <a:rPr lang="ru-RU" sz="1800" dirty="0"/>
              <a:t>) в файл </a:t>
            </a:r>
            <a:r>
              <a:rPr lang="ru-RU" sz="1800" dirty="0" err="1"/>
              <a:t>recommendation_model.pkl</a:t>
            </a:r>
            <a:r>
              <a:rPr lang="ru-RU" sz="1800" dirty="0"/>
              <a:t> с использованием библиотеки </a:t>
            </a:r>
            <a:r>
              <a:rPr lang="ru-RU" sz="1800" dirty="0" err="1"/>
              <a:t>pickle</a:t>
            </a:r>
            <a:r>
              <a:rPr lang="ru-RU" sz="1800" dirty="0"/>
              <a:t>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Сохранение метаданных (время обучения, значения метрик, параметры) в </a:t>
            </a:r>
            <a:r>
              <a:rPr lang="ru-RU" sz="1800" dirty="0" err="1"/>
              <a:t>model_metadata.json</a:t>
            </a:r>
            <a:r>
              <a:rPr lang="ru-RU" sz="1800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3F09A4C-DE36-BD37-C3B2-A63A69971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11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26745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BC73FA-B6DA-4673-D1C2-CC5998EF9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47044DC-3343-5200-A048-D93C7870BB6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Список рекомендаций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EF5F4A-9714-8A7A-C3BB-B048BDAC9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12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0007E17-B862-7022-16CF-FA0FBF68F7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819" y="157479"/>
            <a:ext cx="5589463" cy="314432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3394D5-ED6E-04E1-5C3C-9F76A27CD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819" y="3316098"/>
            <a:ext cx="5589463" cy="31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094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DA90-3AF4-02F8-6D77-F33B9E452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FB03FA-5638-AA71-5869-13B8F9F9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FE08459-C6B6-1D50-B898-F00D4CF5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Детали публикации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E715E7D-D36B-8E0D-CA16-B01FBAD28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13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614CCEB-DBEC-BB27-8CB9-C9C5E45D57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0667" y="157479"/>
            <a:ext cx="5587766" cy="314432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D526A9E-DE9C-2FCA-53C3-34B54BC776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0869" y="3316098"/>
            <a:ext cx="5587362" cy="31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194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1729A-3FA6-EE67-9B73-007088337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DF4592-126C-6C21-6E33-9FE17F52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295C10A-7923-6429-B2F0-719C4377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Админ-панель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7A448EB-2679-DCD4-0414-445DDBDF9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14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9733D50-6EE6-03FA-BFA1-6AA9CD5F5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26327" y="1402147"/>
            <a:ext cx="7208473" cy="405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856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ABBE527E-071E-047D-BABE-435F1176E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</a:t>
            </a:r>
          </a:p>
        </p:txBody>
      </p:sp>
      <p:graphicFrame>
        <p:nvGraphicFramePr>
          <p:cNvPr id="13" name="Объект 12">
            <a:extLst>
              <a:ext uri="{FF2B5EF4-FFF2-40B4-BE49-F238E27FC236}">
                <a16:creationId xmlns:a16="http://schemas.microsoft.com/office/drawing/2014/main" id="{E6CD6AFD-E64C-B785-8D35-9A084D6F153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29001994"/>
              </p:ext>
            </p:extLst>
          </p:nvPr>
        </p:nvGraphicFramePr>
        <p:xfrm>
          <a:off x="5676900" y="2092508"/>
          <a:ext cx="5478780" cy="35655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065044">
                  <a:extLst>
                    <a:ext uri="{9D8B030D-6E8A-4147-A177-3AD203B41FA5}">
                      <a16:colId xmlns:a16="http://schemas.microsoft.com/office/drawing/2014/main" val="3120371877"/>
                    </a:ext>
                  </a:extLst>
                </a:gridCol>
                <a:gridCol w="1413736">
                  <a:extLst>
                    <a:ext uri="{9D8B030D-6E8A-4147-A177-3AD203B41FA5}">
                      <a16:colId xmlns:a16="http://schemas.microsoft.com/office/drawing/2014/main" val="2289206948"/>
                    </a:ext>
                  </a:extLst>
                </a:gridCol>
              </a:tblGrid>
              <a:tr h="225136">
                <a:tc>
                  <a:txBody>
                    <a:bodyPr/>
                    <a:lstStyle/>
                    <a:p>
                      <a:pPr marL="10795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Показатель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Значение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60278353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Количество запросов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190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726377097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ru-RU" sz="1800">
                          <a:effectLst/>
                        </a:rPr>
                        <a:t>Среднее время отклика (</a:t>
                      </a:r>
                      <a:r>
                        <a:rPr lang="en-US" sz="1800">
                          <a:effectLst/>
                        </a:rPr>
                        <a:t>Average</a:t>
                      </a:r>
                      <a:r>
                        <a:rPr lang="ru-RU" sz="1800">
                          <a:effectLst/>
                        </a:rPr>
                        <a:t>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2 889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178520898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Медиана (Median),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2 853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108703512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90-й перцентиль (90%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3 477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137046591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95-й перцентиль (95%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3 652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669541285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99-й перцентиль (99%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3 759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130241131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Минимальное время,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443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114069551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Максимальное время,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3861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402843271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Процент ошибок (Error %)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4,74%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886770304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ru-RU" sz="1800">
                          <a:effectLst/>
                        </a:rPr>
                        <a:t>Пропускная способность (</a:t>
                      </a:r>
                      <a:r>
                        <a:rPr lang="en-US" sz="1800">
                          <a:effectLst/>
                        </a:rPr>
                        <a:t>Throughput</a:t>
                      </a:r>
                      <a:r>
                        <a:rPr lang="ru-RU" sz="1800">
                          <a:effectLst/>
                        </a:rPr>
                        <a:t>), запросов/с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 dirty="0">
                          <a:effectLst/>
                        </a:rPr>
                        <a:t>3.9</a:t>
                      </a:r>
                      <a:endParaRPr lang="ru-RU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405892098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5AF4B01-0EAC-CEA7-CE54-6D056977C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15</a:t>
            </a:fld>
            <a:endParaRPr lang="ru-RU"/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B5B9EE54-414C-89EE-AF7D-C16F7FDA7C5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097280" y="1841249"/>
            <a:ext cx="4017411" cy="417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96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A99C4-656D-738D-FAC3-1E2981C9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Информационный менеджмент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0FF571-4BDD-D213-0290-F84918A0A4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В главе информационного менеджмента разработаны: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Устав проекта,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Иерархическая структура работ (ИСР),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Календарный план, 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Матрица RACI,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Реестр рисков и план управления изменениями.</a:t>
            </a:r>
          </a:p>
          <a:p>
            <a:pPr marL="88900" indent="0">
              <a:buNone/>
            </a:pPr>
            <a:r>
              <a:rPr lang="ru-RU" dirty="0"/>
              <a:t>Бюджет проекта (без учёта оплаты разработчиков) – около 60 тыс. рублей.</a:t>
            </a:r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BDD15A00-970A-5ABF-9BA1-DBE7AADFC44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33403469"/>
              </p:ext>
            </p:extLst>
          </p:nvPr>
        </p:nvGraphicFramePr>
        <p:xfrm>
          <a:off x="6218555" y="1845734"/>
          <a:ext cx="4937125" cy="435864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001386">
                  <a:extLst>
                    <a:ext uri="{9D8B030D-6E8A-4147-A177-3AD203B41FA5}">
                      <a16:colId xmlns:a16="http://schemas.microsoft.com/office/drawing/2014/main" val="1686752078"/>
                    </a:ext>
                  </a:extLst>
                </a:gridCol>
                <a:gridCol w="935878">
                  <a:extLst>
                    <a:ext uri="{9D8B030D-6E8A-4147-A177-3AD203B41FA5}">
                      <a16:colId xmlns:a16="http://schemas.microsoft.com/office/drawing/2014/main" val="3256132388"/>
                    </a:ext>
                  </a:extLst>
                </a:gridCol>
                <a:gridCol w="1071608">
                  <a:extLst>
                    <a:ext uri="{9D8B030D-6E8A-4147-A177-3AD203B41FA5}">
                      <a16:colId xmlns:a16="http://schemas.microsoft.com/office/drawing/2014/main" val="734199257"/>
                    </a:ext>
                  </a:extLst>
                </a:gridCol>
                <a:gridCol w="928253">
                  <a:extLst>
                    <a:ext uri="{9D8B030D-6E8A-4147-A177-3AD203B41FA5}">
                      <a16:colId xmlns:a16="http://schemas.microsoft.com/office/drawing/2014/main" val="4068769053"/>
                    </a:ext>
                  </a:extLst>
                </a:gridCol>
              </a:tblGrid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Стоимость работ: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2771142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Категория специалиста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Трудозатраты, час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Ставка, руб/час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7098538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Руководитель проекта/ML-инженер (Шутова Т.Е.)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140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350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49 000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89286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80010" marR="25400" indent="-58420">
                        <a:buNone/>
                      </a:pPr>
                      <a:r>
                        <a:rPr lang="ru-RU" sz="1100">
                          <a:effectLst/>
                        </a:rPr>
                        <a:t> Бэкенд-разработчик (Жминьковская  М.А.)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30 000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30029245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Тестировщик (совмещенная роль)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200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4 000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14882526"/>
                  </a:ext>
                </a:extLst>
              </a:tr>
              <a:tr h="146914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260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 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83 000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4046495"/>
                  </a:ext>
                </a:extLst>
              </a:tr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Стоимость оборудования: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23163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Категория расходов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Количество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Стоимость за единицу, руб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34593085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Аренда облачного сервера с GPU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4 месяца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5 000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20 000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7812015"/>
                  </a:ext>
                </a:extLst>
              </a:tr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Инфраструктурные расходы: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810425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Категория расходов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Количество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Стоимость за единицу, руб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83980897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Хостинг и дополнительное дисковое пространство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6 месяцев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3 333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19 998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3031913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Интернет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6 месяцев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1 650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9 900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03749546"/>
                  </a:ext>
                </a:extLst>
              </a:tr>
              <a:tr h="146406">
                <a:tc gridSpan="3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29 898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22956102"/>
                  </a:ext>
                </a:extLst>
              </a:tr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Резерв: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8912668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Непредвиденные расходы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 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 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10 000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83301428"/>
                  </a:ext>
                </a:extLst>
              </a:tr>
              <a:tr h="146406">
                <a:tc gridSpan="3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142 898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41584369"/>
                  </a:ext>
                </a:extLst>
              </a:tr>
              <a:tr h="146406">
                <a:tc gridSpan="3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Итого без оплаты специалистов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 dirty="0">
                          <a:effectLst/>
                        </a:rPr>
                        <a:t>59 898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82180244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2C28450-9C7B-EE7E-597D-24481B1EB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119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6F2C38-2215-CCAC-CDE1-322030D06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1E84F8-70E8-4394-736D-5E1E50481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sz="2400" dirty="0"/>
              <a:t>В выпускной квалификационной работе разработан и внедрён модуль персонализированных рекомендаций и поиска визуально похожих произведений для информационной системы «Арт-галерея». Модуль повышает вовлечённость пользователей за счёт адаптации контента под их предпочтения.</a:t>
            </a:r>
          </a:p>
          <a:p>
            <a:r>
              <a:rPr lang="ru-RU" sz="2400" dirty="0"/>
              <a:t>Практическая ценность: готовый продукт для арт-пространств и образовательных учреждений. Гибридный подход и </a:t>
            </a:r>
            <a:r>
              <a:rPr lang="ru-RU" sz="2400" dirty="0" err="1"/>
              <a:t>OpenCLIP</a:t>
            </a:r>
            <a:r>
              <a:rPr lang="ru-RU" sz="2400" dirty="0"/>
              <a:t> применимы в смежных проектах.</a:t>
            </a:r>
            <a:endParaRPr lang="en-US" sz="2400" dirty="0"/>
          </a:p>
          <a:p>
            <a:r>
              <a:rPr lang="ru-RU" sz="2400" dirty="0"/>
              <a:t>Направления развития: переход к постоянно работающему Python-серверу, кэширование, расширение меток для </a:t>
            </a:r>
            <a:r>
              <a:rPr lang="ru-RU" sz="2400" dirty="0" err="1"/>
              <a:t>OpenCLIP</a:t>
            </a:r>
            <a:r>
              <a:rPr lang="ru-RU" sz="2400" dirty="0"/>
              <a:t>, улучшение метрик, внедрение A/B-тестирования.</a:t>
            </a:r>
          </a:p>
          <a:p>
            <a:r>
              <a:rPr lang="ru-RU" sz="2400" dirty="0"/>
              <a:t>Система работоспособна и имеет потенциал для дальнейшего развития.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B1D601F-B436-4772-EF92-EC19C4B09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17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92601828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Фиолетовый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102</TotalTime>
  <Words>1182</Words>
  <Application>Microsoft Office PowerPoint</Application>
  <PresentationFormat>Широкоэкранный</PresentationFormat>
  <Paragraphs>231</Paragraphs>
  <Slides>17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Calibri Light</vt:lpstr>
      <vt:lpstr>Cambria Math</vt:lpstr>
      <vt:lpstr>Times New Roman</vt:lpstr>
      <vt:lpstr>Ретро</vt:lpstr>
      <vt:lpstr>Информационная система арт галереи. Модуль рекомендаций</vt:lpstr>
      <vt:lpstr>Введение</vt:lpstr>
      <vt:lpstr>Цели и задачи</vt:lpstr>
      <vt:lpstr>Сравнительный анализ</vt:lpstr>
      <vt:lpstr>Анализ требований</vt:lpstr>
      <vt:lpstr>Архитектура системы</vt:lpstr>
      <vt:lpstr>Диаграмма развёртывания</vt:lpstr>
      <vt:lpstr>Диаграмма прецедентов</vt:lpstr>
      <vt:lpstr>ER-диаграмма</vt:lpstr>
      <vt:lpstr>Математическая модель персонализированных рекомендаций</vt:lpstr>
      <vt:lpstr>Алгоритм обучения модели</vt:lpstr>
      <vt:lpstr>Реализованные страницы</vt:lpstr>
      <vt:lpstr>Реализованные страницы</vt:lpstr>
      <vt:lpstr>Реализованные страницы</vt:lpstr>
      <vt:lpstr>Тестирование</vt:lpstr>
      <vt:lpstr>Информационный менеджмент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</dc:creator>
  <cp:lastModifiedBy>1</cp:lastModifiedBy>
  <cp:revision>17</cp:revision>
  <dcterms:created xsi:type="dcterms:W3CDTF">2026-05-25T20:58:57Z</dcterms:created>
  <dcterms:modified xsi:type="dcterms:W3CDTF">2026-05-26T07:17:36Z</dcterms:modified>
</cp:coreProperties>
</file>