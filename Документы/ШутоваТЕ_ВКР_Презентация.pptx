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3" r:id="rId1"/>
  </p:sldMasterIdLst>
  <p:notesMasterIdLst>
    <p:notesMasterId r:id="rId19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7" r:id="rId10"/>
    <p:sldId id="265" r:id="rId11"/>
    <p:sldId id="266" r:id="rId12"/>
    <p:sldId id="268" r:id="rId13"/>
    <p:sldId id="269" r:id="rId14"/>
    <p:sldId id="270" r:id="rId15"/>
    <p:sldId id="271" r:id="rId16"/>
    <p:sldId id="272" r:id="rId17"/>
    <p:sldId id="259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2278F"/>
    <a:srgbClr val="99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Светлый стиль 2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6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EBBE6E8-6E7E-4D65-BF9A-CBE826D3E8F7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2D97ED5A-1339-4C9C-B5F8-FE34BDF5298F}">
      <dgm:prSet phldrT="[Текст]"/>
      <dgm:spPr/>
      <dgm:t>
        <a:bodyPr/>
        <a:lstStyle/>
        <a:p>
          <a:pPr>
            <a:buNone/>
          </a:pPr>
          <a:r>
            <a:rPr lang="ru-RU" b="0" i="0" dirty="0"/>
            <a:t>Мало данных для обучения модели</a:t>
          </a:r>
          <a:endParaRPr lang="ru-RU" dirty="0"/>
        </a:p>
      </dgm:t>
    </dgm:pt>
    <dgm:pt modelId="{9E48A871-5ADD-4363-94C8-DB830A190120}" type="parTrans" cxnId="{43123ED0-740F-490C-A50F-AEA13F7287BA}">
      <dgm:prSet/>
      <dgm:spPr/>
      <dgm:t>
        <a:bodyPr/>
        <a:lstStyle/>
        <a:p>
          <a:endParaRPr lang="ru-RU"/>
        </a:p>
      </dgm:t>
    </dgm:pt>
    <dgm:pt modelId="{04848607-BE24-4B54-81B7-A5F309859D7E}" type="sibTrans" cxnId="{43123ED0-740F-490C-A50F-AEA13F7287BA}">
      <dgm:prSet/>
      <dgm:spPr>
        <a:gradFill flip="none" rotWithShape="0">
          <a:gsLst>
            <a:gs pos="0">
              <a:schemeClr val="accent1">
                <a:lumMod val="60000"/>
                <a:lumOff val="40000"/>
                <a:shade val="30000"/>
                <a:satMod val="115000"/>
              </a:schemeClr>
            </a:gs>
            <a:gs pos="50000">
              <a:schemeClr val="accent1">
                <a:lumMod val="60000"/>
                <a:lumOff val="40000"/>
                <a:shade val="67500"/>
                <a:satMod val="115000"/>
              </a:schemeClr>
            </a:gs>
            <a:gs pos="100000">
              <a:schemeClr val="accent1">
                <a:lumMod val="60000"/>
                <a:lumOff val="40000"/>
                <a:shade val="100000"/>
                <a:satMod val="115000"/>
              </a:schemeClr>
            </a:gs>
          </a:gsLst>
          <a:path path="circle">
            <a:fillToRect t="100000" r="100000"/>
          </a:path>
          <a:tileRect l="-100000" b="-100000"/>
        </a:gradFill>
      </dgm:spPr>
      <dgm:t>
        <a:bodyPr/>
        <a:lstStyle/>
        <a:p>
          <a:endParaRPr lang="ru-RU"/>
        </a:p>
      </dgm:t>
    </dgm:pt>
    <dgm:pt modelId="{A3DE5596-FCF6-4419-851C-C46A4BE9DEE1}">
      <dgm:prSet phldrT="[Текст]"/>
      <dgm:spPr>
        <a:solidFill>
          <a:schemeClr val="accent1">
            <a:lumMod val="60000"/>
            <a:lumOff val="40000"/>
          </a:schemeClr>
        </a:solidFill>
      </dgm:spPr>
      <dgm:t>
        <a:bodyPr/>
        <a:lstStyle/>
        <a:p>
          <a:pPr>
            <a:buNone/>
          </a:pPr>
          <a:r>
            <a:rPr lang="ru-RU" b="0" i="0" dirty="0"/>
            <a:t>Синтетические данные, ручное оценивание</a:t>
          </a:r>
          <a:endParaRPr lang="ru-RU" dirty="0"/>
        </a:p>
      </dgm:t>
    </dgm:pt>
    <dgm:pt modelId="{1885E0DB-4BBF-48FA-BD02-E3ABD0C7CE32}" type="parTrans" cxnId="{C46A7489-B2E4-4644-A2ED-12FC004C2795}">
      <dgm:prSet/>
      <dgm:spPr/>
      <dgm:t>
        <a:bodyPr/>
        <a:lstStyle/>
        <a:p>
          <a:endParaRPr lang="ru-RU"/>
        </a:p>
      </dgm:t>
    </dgm:pt>
    <dgm:pt modelId="{ED3E3BDB-F17D-43FA-A309-F6D44123545C}" type="sibTrans" cxnId="{C46A7489-B2E4-4644-A2ED-12FC004C2795}">
      <dgm:prSet/>
      <dgm:spPr/>
      <dgm:t>
        <a:bodyPr/>
        <a:lstStyle/>
        <a:p>
          <a:endParaRPr lang="ru-RU"/>
        </a:p>
      </dgm:t>
    </dgm:pt>
    <dgm:pt modelId="{70E55983-5224-4F6B-AA1C-AA6BD0B29B75}" type="pres">
      <dgm:prSet presAssocID="{7EBBE6E8-6E7E-4D65-BF9A-CBE826D3E8F7}" presName="Name0" presStyleCnt="0">
        <dgm:presLayoutVars>
          <dgm:dir/>
          <dgm:resizeHandles val="exact"/>
        </dgm:presLayoutVars>
      </dgm:prSet>
      <dgm:spPr/>
    </dgm:pt>
    <dgm:pt modelId="{6500D5A7-59F4-41BA-9665-D68A8DD51CF3}" type="pres">
      <dgm:prSet presAssocID="{2D97ED5A-1339-4C9C-B5F8-FE34BDF5298F}" presName="node" presStyleLbl="node1" presStyleIdx="0" presStyleCnt="2">
        <dgm:presLayoutVars>
          <dgm:bulletEnabled val="1"/>
        </dgm:presLayoutVars>
      </dgm:prSet>
      <dgm:spPr/>
    </dgm:pt>
    <dgm:pt modelId="{9B23216D-6693-4BFC-9CF6-AD539BF88CA5}" type="pres">
      <dgm:prSet presAssocID="{04848607-BE24-4B54-81B7-A5F309859D7E}" presName="sibTrans" presStyleLbl="sibTrans2D1" presStyleIdx="0" presStyleCnt="1" custScaleX="153721"/>
      <dgm:spPr>
        <a:prstGeom prst="rightArrow">
          <a:avLst/>
        </a:prstGeom>
      </dgm:spPr>
    </dgm:pt>
    <dgm:pt modelId="{B43A671B-7E61-48F4-8A97-5FB07AF36519}" type="pres">
      <dgm:prSet presAssocID="{04848607-BE24-4B54-81B7-A5F309859D7E}" presName="connectorText" presStyleLbl="sibTrans2D1" presStyleIdx="0" presStyleCnt="1"/>
      <dgm:spPr/>
    </dgm:pt>
    <dgm:pt modelId="{831935E8-20A3-4341-B34F-EBEC45D2FF16}" type="pres">
      <dgm:prSet presAssocID="{A3DE5596-FCF6-4419-851C-C46A4BE9DEE1}" presName="node" presStyleLbl="node1" presStyleIdx="1" presStyleCnt="2">
        <dgm:presLayoutVars>
          <dgm:bulletEnabled val="1"/>
        </dgm:presLayoutVars>
      </dgm:prSet>
      <dgm:spPr/>
    </dgm:pt>
  </dgm:ptLst>
  <dgm:cxnLst>
    <dgm:cxn modelId="{A9AA1277-1B87-4A58-BE90-101DAA9AFB7F}" type="presOf" srcId="{04848607-BE24-4B54-81B7-A5F309859D7E}" destId="{9B23216D-6693-4BFC-9CF6-AD539BF88CA5}" srcOrd="0" destOrd="0" presId="urn:microsoft.com/office/officeart/2005/8/layout/process1"/>
    <dgm:cxn modelId="{058DB77E-EFE4-4212-A5EF-52E01519C1FF}" type="presOf" srcId="{7EBBE6E8-6E7E-4D65-BF9A-CBE826D3E8F7}" destId="{70E55983-5224-4F6B-AA1C-AA6BD0B29B75}" srcOrd="0" destOrd="0" presId="urn:microsoft.com/office/officeart/2005/8/layout/process1"/>
    <dgm:cxn modelId="{D4952787-C28A-465F-9A11-997F104F7CC9}" type="presOf" srcId="{2D97ED5A-1339-4C9C-B5F8-FE34BDF5298F}" destId="{6500D5A7-59F4-41BA-9665-D68A8DD51CF3}" srcOrd="0" destOrd="0" presId="urn:microsoft.com/office/officeart/2005/8/layout/process1"/>
    <dgm:cxn modelId="{C46A7489-B2E4-4644-A2ED-12FC004C2795}" srcId="{7EBBE6E8-6E7E-4D65-BF9A-CBE826D3E8F7}" destId="{A3DE5596-FCF6-4419-851C-C46A4BE9DEE1}" srcOrd="1" destOrd="0" parTransId="{1885E0DB-4BBF-48FA-BD02-E3ABD0C7CE32}" sibTransId="{ED3E3BDB-F17D-43FA-A309-F6D44123545C}"/>
    <dgm:cxn modelId="{E17E479A-463D-46D3-9DE3-E9BA71AA31F1}" type="presOf" srcId="{A3DE5596-FCF6-4419-851C-C46A4BE9DEE1}" destId="{831935E8-20A3-4341-B34F-EBEC45D2FF16}" srcOrd="0" destOrd="0" presId="urn:microsoft.com/office/officeart/2005/8/layout/process1"/>
    <dgm:cxn modelId="{43123ED0-740F-490C-A50F-AEA13F7287BA}" srcId="{7EBBE6E8-6E7E-4D65-BF9A-CBE826D3E8F7}" destId="{2D97ED5A-1339-4C9C-B5F8-FE34BDF5298F}" srcOrd="0" destOrd="0" parTransId="{9E48A871-5ADD-4363-94C8-DB830A190120}" sibTransId="{04848607-BE24-4B54-81B7-A5F309859D7E}"/>
    <dgm:cxn modelId="{F0FDE2F3-619F-468F-9B81-55ABCA676C0C}" type="presOf" srcId="{04848607-BE24-4B54-81B7-A5F309859D7E}" destId="{B43A671B-7E61-48F4-8A97-5FB07AF36519}" srcOrd="1" destOrd="0" presId="urn:microsoft.com/office/officeart/2005/8/layout/process1"/>
    <dgm:cxn modelId="{580A4218-D3F8-4EFB-A4E3-B124C99179C1}" type="presParOf" srcId="{70E55983-5224-4F6B-AA1C-AA6BD0B29B75}" destId="{6500D5A7-59F4-41BA-9665-D68A8DD51CF3}" srcOrd="0" destOrd="0" presId="urn:microsoft.com/office/officeart/2005/8/layout/process1"/>
    <dgm:cxn modelId="{5A8A3BF5-786E-4124-959B-BA84DDEB66A2}" type="presParOf" srcId="{70E55983-5224-4F6B-AA1C-AA6BD0B29B75}" destId="{9B23216D-6693-4BFC-9CF6-AD539BF88CA5}" srcOrd="1" destOrd="0" presId="urn:microsoft.com/office/officeart/2005/8/layout/process1"/>
    <dgm:cxn modelId="{E44B28F8-A13E-4916-A909-1A39E505EF78}" type="presParOf" srcId="{9B23216D-6693-4BFC-9CF6-AD539BF88CA5}" destId="{B43A671B-7E61-48F4-8A97-5FB07AF36519}" srcOrd="0" destOrd="0" presId="urn:microsoft.com/office/officeart/2005/8/layout/process1"/>
    <dgm:cxn modelId="{A78F81A6-DF88-451F-AE7B-FA6B738B08DB}" type="presParOf" srcId="{70E55983-5224-4F6B-AA1C-AA6BD0B29B75}" destId="{831935E8-20A3-4341-B34F-EBEC45D2FF16}" srcOrd="2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EBBE6E8-6E7E-4D65-BF9A-CBE826D3E8F7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2D97ED5A-1339-4C9C-B5F8-FE34BDF5298F}">
      <dgm:prSet phldrT="[Текст]"/>
      <dgm:spPr/>
      <dgm:t>
        <a:bodyPr/>
        <a:lstStyle/>
        <a:p>
          <a:pPr>
            <a:buNone/>
          </a:pPr>
          <a:r>
            <a:rPr lang="ru-RU" b="0" i="0" dirty="0"/>
            <a:t>Низкая точность модели</a:t>
          </a:r>
          <a:endParaRPr lang="ru-RU" dirty="0"/>
        </a:p>
      </dgm:t>
    </dgm:pt>
    <dgm:pt modelId="{9E48A871-5ADD-4363-94C8-DB830A190120}" type="parTrans" cxnId="{43123ED0-740F-490C-A50F-AEA13F7287BA}">
      <dgm:prSet/>
      <dgm:spPr/>
      <dgm:t>
        <a:bodyPr/>
        <a:lstStyle/>
        <a:p>
          <a:endParaRPr lang="ru-RU"/>
        </a:p>
      </dgm:t>
    </dgm:pt>
    <dgm:pt modelId="{04848607-BE24-4B54-81B7-A5F309859D7E}" type="sibTrans" cxnId="{43123ED0-740F-490C-A50F-AEA13F7287BA}">
      <dgm:prSet/>
      <dgm:spPr>
        <a:gradFill flip="none" rotWithShape="0">
          <a:gsLst>
            <a:gs pos="0">
              <a:schemeClr val="accent1">
                <a:lumMod val="60000"/>
                <a:lumOff val="40000"/>
                <a:shade val="30000"/>
                <a:satMod val="115000"/>
              </a:schemeClr>
            </a:gs>
            <a:gs pos="50000">
              <a:schemeClr val="accent1">
                <a:lumMod val="60000"/>
                <a:lumOff val="40000"/>
                <a:shade val="67500"/>
                <a:satMod val="115000"/>
              </a:schemeClr>
            </a:gs>
            <a:gs pos="100000">
              <a:schemeClr val="accent1">
                <a:lumMod val="60000"/>
                <a:lumOff val="40000"/>
                <a:shade val="100000"/>
                <a:satMod val="115000"/>
              </a:schemeClr>
            </a:gs>
          </a:gsLst>
          <a:path path="circle">
            <a:fillToRect t="100000" r="100000"/>
          </a:path>
          <a:tileRect l="-100000" b="-100000"/>
        </a:gradFill>
      </dgm:spPr>
      <dgm:t>
        <a:bodyPr/>
        <a:lstStyle/>
        <a:p>
          <a:endParaRPr lang="ru-RU"/>
        </a:p>
      </dgm:t>
    </dgm:pt>
    <dgm:pt modelId="{A3DE5596-FCF6-4419-851C-C46A4BE9DEE1}">
      <dgm:prSet phldrT="[Текст]"/>
      <dgm:spPr>
        <a:solidFill>
          <a:schemeClr val="accent1">
            <a:lumMod val="60000"/>
            <a:lumOff val="40000"/>
          </a:schemeClr>
        </a:solidFill>
      </dgm:spPr>
      <dgm:t>
        <a:bodyPr/>
        <a:lstStyle/>
        <a:p>
          <a:pPr>
            <a:buNone/>
          </a:pPr>
          <a:r>
            <a:rPr lang="ru-RU" b="0" i="0" dirty="0"/>
            <a:t>Анализ ошибок, добавление признаков, иной вариант (популярное + коллаборативная фильтрация)</a:t>
          </a:r>
          <a:endParaRPr lang="ru-RU" dirty="0"/>
        </a:p>
      </dgm:t>
    </dgm:pt>
    <dgm:pt modelId="{1885E0DB-4BBF-48FA-BD02-E3ABD0C7CE32}" type="parTrans" cxnId="{C46A7489-B2E4-4644-A2ED-12FC004C2795}">
      <dgm:prSet/>
      <dgm:spPr/>
      <dgm:t>
        <a:bodyPr/>
        <a:lstStyle/>
        <a:p>
          <a:endParaRPr lang="ru-RU"/>
        </a:p>
      </dgm:t>
    </dgm:pt>
    <dgm:pt modelId="{ED3E3BDB-F17D-43FA-A309-F6D44123545C}" type="sibTrans" cxnId="{C46A7489-B2E4-4644-A2ED-12FC004C2795}">
      <dgm:prSet/>
      <dgm:spPr/>
      <dgm:t>
        <a:bodyPr/>
        <a:lstStyle/>
        <a:p>
          <a:endParaRPr lang="ru-RU"/>
        </a:p>
      </dgm:t>
    </dgm:pt>
    <dgm:pt modelId="{70E55983-5224-4F6B-AA1C-AA6BD0B29B75}" type="pres">
      <dgm:prSet presAssocID="{7EBBE6E8-6E7E-4D65-BF9A-CBE826D3E8F7}" presName="Name0" presStyleCnt="0">
        <dgm:presLayoutVars>
          <dgm:dir/>
          <dgm:resizeHandles val="exact"/>
        </dgm:presLayoutVars>
      </dgm:prSet>
      <dgm:spPr/>
    </dgm:pt>
    <dgm:pt modelId="{6500D5A7-59F4-41BA-9665-D68A8DD51CF3}" type="pres">
      <dgm:prSet presAssocID="{2D97ED5A-1339-4C9C-B5F8-FE34BDF5298F}" presName="node" presStyleLbl="node1" presStyleIdx="0" presStyleCnt="2">
        <dgm:presLayoutVars>
          <dgm:bulletEnabled val="1"/>
        </dgm:presLayoutVars>
      </dgm:prSet>
      <dgm:spPr/>
    </dgm:pt>
    <dgm:pt modelId="{9B23216D-6693-4BFC-9CF6-AD539BF88CA5}" type="pres">
      <dgm:prSet presAssocID="{04848607-BE24-4B54-81B7-A5F309859D7E}" presName="sibTrans" presStyleLbl="sibTrans2D1" presStyleIdx="0" presStyleCnt="1" custScaleX="153721"/>
      <dgm:spPr>
        <a:prstGeom prst="rightArrow">
          <a:avLst/>
        </a:prstGeom>
      </dgm:spPr>
    </dgm:pt>
    <dgm:pt modelId="{B43A671B-7E61-48F4-8A97-5FB07AF36519}" type="pres">
      <dgm:prSet presAssocID="{04848607-BE24-4B54-81B7-A5F309859D7E}" presName="connectorText" presStyleLbl="sibTrans2D1" presStyleIdx="0" presStyleCnt="1"/>
      <dgm:spPr/>
    </dgm:pt>
    <dgm:pt modelId="{831935E8-20A3-4341-B34F-EBEC45D2FF16}" type="pres">
      <dgm:prSet presAssocID="{A3DE5596-FCF6-4419-851C-C46A4BE9DEE1}" presName="node" presStyleLbl="node1" presStyleIdx="1" presStyleCnt="2" custScaleX="206446">
        <dgm:presLayoutVars>
          <dgm:bulletEnabled val="1"/>
        </dgm:presLayoutVars>
      </dgm:prSet>
      <dgm:spPr/>
    </dgm:pt>
  </dgm:ptLst>
  <dgm:cxnLst>
    <dgm:cxn modelId="{A9AA1277-1B87-4A58-BE90-101DAA9AFB7F}" type="presOf" srcId="{04848607-BE24-4B54-81B7-A5F309859D7E}" destId="{9B23216D-6693-4BFC-9CF6-AD539BF88CA5}" srcOrd="0" destOrd="0" presId="urn:microsoft.com/office/officeart/2005/8/layout/process1"/>
    <dgm:cxn modelId="{058DB77E-EFE4-4212-A5EF-52E01519C1FF}" type="presOf" srcId="{7EBBE6E8-6E7E-4D65-BF9A-CBE826D3E8F7}" destId="{70E55983-5224-4F6B-AA1C-AA6BD0B29B75}" srcOrd="0" destOrd="0" presId="urn:microsoft.com/office/officeart/2005/8/layout/process1"/>
    <dgm:cxn modelId="{D4952787-C28A-465F-9A11-997F104F7CC9}" type="presOf" srcId="{2D97ED5A-1339-4C9C-B5F8-FE34BDF5298F}" destId="{6500D5A7-59F4-41BA-9665-D68A8DD51CF3}" srcOrd="0" destOrd="0" presId="urn:microsoft.com/office/officeart/2005/8/layout/process1"/>
    <dgm:cxn modelId="{C46A7489-B2E4-4644-A2ED-12FC004C2795}" srcId="{7EBBE6E8-6E7E-4D65-BF9A-CBE826D3E8F7}" destId="{A3DE5596-FCF6-4419-851C-C46A4BE9DEE1}" srcOrd="1" destOrd="0" parTransId="{1885E0DB-4BBF-48FA-BD02-E3ABD0C7CE32}" sibTransId="{ED3E3BDB-F17D-43FA-A309-F6D44123545C}"/>
    <dgm:cxn modelId="{E17E479A-463D-46D3-9DE3-E9BA71AA31F1}" type="presOf" srcId="{A3DE5596-FCF6-4419-851C-C46A4BE9DEE1}" destId="{831935E8-20A3-4341-B34F-EBEC45D2FF16}" srcOrd="0" destOrd="0" presId="urn:microsoft.com/office/officeart/2005/8/layout/process1"/>
    <dgm:cxn modelId="{43123ED0-740F-490C-A50F-AEA13F7287BA}" srcId="{7EBBE6E8-6E7E-4D65-BF9A-CBE826D3E8F7}" destId="{2D97ED5A-1339-4C9C-B5F8-FE34BDF5298F}" srcOrd="0" destOrd="0" parTransId="{9E48A871-5ADD-4363-94C8-DB830A190120}" sibTransId="{04848607-BE24-4B54-81B7-A5F309859D7E}"/>
    <dgm:cxn modelId="{F0FDE2F3-619F-468F-9B81-55ABCA676C0C}" type="presOf" srcId="{04848607-BE24-4B54-81B7-A5F309859D7E}" destId="{B43A671B-7E61-48F4-8A97-5FB07AF36519}" srcOrd="1" destOrd="0" presId="urn:microsoft.com/office/officeart/2005/8/layout/process1"/>
    <dgm:cxn modelId="{580A4218-D3F8-4EFB-A4E3-B124C99179C1}" type="presParOf" srcId="{70E55983-5224-4F6B-AA1C-AA6BD0B29B75}" destId="{6500D5A7-59F4-41BA-9665-D68A8DD51CF3}" srcOrd="0" destOrd="0" presId="urn:microsoft.com/office/officeart/2005/8/layout/process1"/>
    <dgm:cxn modelId="{5A8A3BF5-786E-4124-959B-BA84DDEB66A2}" type="presParOf" srcId="{70E55983-5224-4F6B-AA1C-AA6BD0B29B75}" destId="{9B23216D-6693-4BFC-9CF6-AD539BF88CA5}" srcOrd="1" destOrd="0" presId="urn:microsoft.com/office/officeart/2005/8/layout/process1"/>
    <dgm:cxn modelId="{E44B28F8-A13E-4916-A909-1A39E505EF78}" type="presParOf" srcId="{9B23216D-6693-4BFC-9CF6-AD539BF88CA5}" destId="{B43A671B-7E61-48F4-8A97-5FB07AF36519}" srcOrd="0" destOrd="0" presId="urn:microsoft.com/office/officeart/2005/8/layout/process1"/>
    <dgm:cxn modelId="{A78F81A6-DF88-451F-AE7B-FA6B738B08DB}" type="presParOf" srcId="{70E55983-5224-4F6B-AA1C-AA6BD0B29B75}" destId="{831935E8-20A3-4341-B34F-EBEC45D2FF16}" srcOrd="2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EBBE6E8-6E7E-4D65-BF9A-CBE826D3E8F7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2D97ED5A-1339-4C9C-B5F8-FE34BDF5298F}">
      <dgm:prSet phldrT="[Текст]"/>
      <dgm:spPr/>
      <dgm:t>
        <a:bodyPr/>
        <a:lstStyle/>
        <a:p>
          <a:pPr>
            <a:buNone/>
          </a:pPr>
          <a:r>
            <a:rPr lang="ru-RU" b="0" i="0" dirty="0"/>
            <a:t>Высокая нагрузка на сервер</a:t>
          </a:r>
          <a:endParaRPr lang="ru-RU" dirty="0"/>
        </a:p>
      </dgm:t>
    </dgm:pt>
    <dgm:pt modelId="{9E48A871-5ADD-4363-94C8-DB830A190120}" type="parTrans" cxnId="{43123ED0-740F-490C-A50F-AEA13F7287BA}">
      <dgm:prSet/>
      <dgm:spPr/>
      <dgm:t>
        <a:bodyPr/>
        <a:lstStyle/>
        <a:p>
          <a:endParaRPr lang="ru-RU"/>
        </a:p>
      </dgm:t>
    </dgm:pt>
    <dgm:pt modelId="{04848607-BE24-4B54-81B7-A5F309859D7E}" type="sibTrans" cxnId="{43123ED0-740F-490C-A50F-AEA13F7287BA}">
      <dgm:prSet/>
      <dgm:spPr>
        <a:gradFill flip="none" rotWithShape="0">
          <a:gsLst>
            <a:gs pos="0">
              <a:schemeClr val="accent1">
                <a:lumMod val="60000"/>
                <a:lumOff val="40000"/>
                <a:shade val="30000"/>
                <a:satMod val="115000"/>
              </a:schemeClr>
            </a:gs>
            <a:gs pos="50000">
              <a:schemeClr val="accent1">
                <a:lumMod val="60000"/>
                <a:lumOff val="40000"/>
                <a:shade val="67500"/>
                <a:satMod val="115000"/>
              </a:schemeClr>
            </a:gs>
            <a:gs pos="100000">
              <a:schemeClr val="accent1">
                <a:lumMod val="60000"/>
                <a:lumOff val="40000"/>
                <a:shade val="100000"/>
                <a:satMod val="115000"/>
              </a:schemeClr>
            </a:gs>
          </a:gsLst>
          <a:path path="circle">
            <a:fillToRect t="100000" r="100000"/>
          </a:path>
          <a:tileRect l="-100000" b="-100000"/>
        </a:gradFill>
      </dgm:spPr>
      <dgm:t>
        <a:bodyPr/>
        <a:lstStyle/>
        <a:p>
          <a:endParaRPr lang="ru-RU"/>
        </a:p>
      </dgm:t>
    </dgm:pt>
    <dgm:pt modelId="{A3DE5596-FCF6-4419-851C-C46A4BE9DEE1}">
      <dgm:prSet phldrT="[Текст]"/>
      <dgm:spPr>
        <a:solidFill>
          <a:schemeClr val="accent1">
            <a:lumMod val="60000"/>
            <a:lumOff val="40000"/>
          </a:schemeClr>
        </a:solidFill>
      </dgm:spPr>
      <dgm:t>
        <a:bodyPr/>
        <a:lstStyle/>
        <a:p>
          <a:pPr>
            <a:buNone/>
          </a:pPr>
          <a:r>
            <a:rPr lang="ru-RU" b="0" i="0" dirty="0"/>
            <a:t>Кэширование, асинхронность, при необходимости – более мощный сервер</a:t>
          </a:r>
          <a:endParaRPr lang="ru-RU" dirty="0"/>
        </a:p>
      </dgm:t>
    </dgm:pt>
    <dgm:pt modelId="{1885E0DB-4BBF-48FA-BD02-E3ABD0C7CE32}" type="parTrans" cxnId="{C46A7489-B2E4-4644-A2ED-12FC004C2795}">
      <dgm:prSet/>
      <dgm:spPr/>
      <dgm:t>
        <a:bodyPr/>
        <a:lstStyle/>
        <a:p>
          <a:endParaRPr lang="ru-RU"/>
        </a:p>
      </dgm:t>
    </dgm:pt>
    <dgm:pt modelId="{ED3E3BDB-F17D-43FA-A309-F6D44123545C}" type="sibTrans" cxnId="{C46A7489-B2E4-4644-A2ED-12FC004C2795}">
      <dgm:prSet/>
      <dgm:spPr/>
      <dgm:t>
        <a:bodyPr/>
        <a:lstStyle/>
        <a:p>
          <a:endParaRPr lang="ru-RU"/>
        </a:p>
      </dgm:t>
    </dgm:pt>
    <dgm:pt modelId="{70E55983-5224-4F6B-AA1C-AA6BD0B29B75}" type="pres">
      <dgm:prSet presAssocID="{7EBBE6E8-6E7E-4D65-BF9A-CBE826D3E8F7}" presName="Name0" presStyleCnt="0">
        <dgm:presLayoutVars>
          <dgm:dir/>
          <dgm:resizeHandles val="exact"/>
        </dgm:presLayoutVars>
      </dgm:prSet>
      <dgm:spPr/>
    </dgm:pt>
    <dgm:pt modelId="{6500D5A7-59F4-41BA-9665-D68A8DD51CF3}" type="pres">
      <dgm:prSet presAssocID="{2D97ED5A-1339-4C9C-B5F8-FE34BDF5298F}" presName="node" presStyleLbl="node1" presStyleIdx="0" presStyleCnt="2">
        <dgm:presLayoutVars>
          <dgm:bulletEnabled val="1"/>
        </dgm:presLayoutVars>
      </dgm:prSet>
      <dgm:spPr/>
    </dgm:pt>
    <dgm:pt modelId="{9B23216D-6693-4BFC-9CF6-AD539BF88CA5}" type="pres">
      <dgm:prSet presAssocID="{04848607-BE24-4B54-81B7-A5F309859D7E}" presName="sibTrans" presStyleLbl="sibTrans2D1" presStyleIdx="0" presStyleCnt="1" custScaleX="153721"/>
      <dgm:spPr>
        <a:prstGeom prst="rightArrow">
          <a:avLst/>
        </a:prstGeom>
      </dgm:spPr>
    </dgm:pt>
    <dgm:pt modelId="{B43A671B-7E61-48F4-8A97-5FB07AF36519}" type="pres">
      <dgm:prSet presAssocID="{04848607-BE24-4B54-81B7-A5F309859D7E}" presName="connectorText" presStyleLbl="sibTrans2D1" presStyleIdx="0" presStyleCnt="1"/>
      <dgm:spPr/>
    </dgm:pt>
    <dgm:pt modelId="{831935E8-20A3-4341-B34F-EBEC45D2FF16}" type="pres">
      <dgm:prSet presAssocID="{A3DE5596-FCF6-4419-851C-C46A4BE9DEE1}" presName="node" presStyleLbl="node1" presStyleIdx="1" presStyleCnt="2" custScaleX="149928">
        <dgm:presLayoutVars>
          <dgm:bulletEnabled val="1"/>
        </dgm:presLayoutVars>
      </dgm:prSet>
      <dgm:spPr/>
    </dgm:pt>
  </dgm:ptLst>
  <dgm:cxnLst>
    <dgm:cxn modelId="{A9AA1277-1B87-4A58-BE90-101DAA9AFB7F}" type="presOf" srcId="{04848607-BE24-4B54-81B7-A5F309859D7E}" destId="{9B23216D-6693-4BFC-9CF6-AD539BF88CA5}" srcOrd="0" destOrd="0" presId="urn:microsoft.com/office/officeart/2005/8/layout/process1"/>
    <dgm:cxn modelId="{058DB77E-EFE4-4212-A5EF-52E01519C1FF}" type="presOf" srcId="{7EBBE6E8-6E7E-4D65-BF9A-CBE826D3E8F7}" destId="{70E55983-5224-4F6B-AA1C-AA6BD0B29B75}" srcOrd="0" destOrd="0" presId="urn:microsoft.com/office/officeart/2005/8/layout/process1"/>
    <dgm:cxn modelId="{D4952787-C28A-465F-9A11-997F104F7CC9}" type="presOf" srcId="{2D97ED5A-1339-4C9C-B5F8-FE34BDF5298F}" destId="{6500D5A7-59F4-41BA-9665-D68A8DD51CF3}" srcOrd="0" destOrd="0" presId="urn:microsoft.com/office/officeart/2005/8/layout/process1"/>
    <dgm:cxn modelId="{C46A7489-B2E4-4644-A2ED-12FC004C2795}" srcId="{7EBBE6E8-6E7E-4D65-BF9A-CBE826D3E8F7}" destId="{A3DE5596-FCF6-4419-851C-C46A4BE9DEE1}" srcOrd="1" destOrd="0" parTransId="{1885E0DB-4BBF-48FA-BD02-E3ABD0C7CE32}" sibTransId="{ED3E3BDB-F17D-43FA-A309-F6D44123545C}"/>
    <dgm:cxn modelId="{E17E479A-463D-46D3-9DE3-E9BA71AA31F1}" type="presOf" srcId="{A3DE5596-FCF6-4419-851C-C46A4BE9DEE1}" destId="{831935E8-20A3-4341-B34F-EBEC45D2FF16}" srcOrd="0" destOrd="0" presId="urn:microsoft.com/office/officeart/2005/8/layout/process1"/>
    <dgm:cxn modelId="{43123ED0-740F-490C-A50F-AEA13F7287BA}" srcId="{7EBBE6E8-6E7E-4D65-BF9A-CBE826D3E8F7}" destId="{2D97ED5A-1339-4C9C-B5F8-FE34BDF5298F}" srcOrd="0" destOrd="0" parTransId="{9E48A871-5ADD-4363-94C8-DB830A190120}" sibTransId="{04848607-BE24-4B54-81B7-A5F309859D7E}"/>
    <dgm:cxn modelId="{F0FDE2F3-619F-468F-9B81-55ABCA676C0C}" type="presOf" srcId="{04848607-BE24-4B54-81B7-A5F309859D7E}" destId="{B43A671B-7E61-48F4-8A97-5FB07AF36519}" srcOrd="1" destOrd="0" presId="urn:microsoft.com/office/officeart/2005/8/layout/process1"/>
    <dgm:cxn modelId="{580A4218-D3F8-4EFB-A4E3-B124C99179C1}" type="presParOf" srcId="{70E55983-5224-4F6B-AA1C-AA6BD0B29B75}" destId="{6500D5A7-59F4-41BA-9665-D68A8DD51CF3}" srcOrd="0" destOrd="0" presId="urn:microsoft.com/office/officeart/2005/8/layout/process1"/>
    <dgm:cxn modelId="{5A8A3BF5-786E-4124-959B-BA84DDEB66A2}" type="presParOf" srcId="{70E55983-5224-4F6B-AA1C-AA6BD0B29B75}" destId="{9B23216D-6693-4BFC-9CF6-AD539BF88CA5}" srcOrd="1" destOrd="0" presId="urn:microsoft.com/office/officeart/2005/8/layout/process1"/>
    <dgm:cxn modelId="{E44B28F8-A13E-4916-A909-1A39E505EF78}" type="presParOf" srcId="{9B23216D-6693-4BFC-9CF6-AD539BF88CA5}" destId="{B43A671B-7E61-48F4-8A97-5FB07AF36519}" srcOrd="0" destOrd="0" presId="urn:microsoft.com/office/officeart/2005/8/layout/process1"/>
    <dgm:cxn modelId="{A78F81A6-DF88-451F-AE7B-FA6B738B08DB}" type="presParOf" srcId="{70E55983-5224-4F6B-AA1C-AA6BD0B29B75}" destId="{831935E8-20A3-4341-B34F-EBEC45D2FF16}" srcOrd="2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500D5A7-59F4-41BA-9665-D68A8DD51CF3}">
      <dsp:nvSpPr>
        <dsp:cNvPr id="0" name=""/>
        <dsp:cNvSpPr/>
      </dsp:nvSpPr>
      <dsp:spPr>
        <a:xfrm>
          <a:off x="834" y="93831"/>
          <a:ext cx="1778667" cy="10672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0" i="0" kern="1200" dirty="0"/>
            <a:t>Мало данных для обучения модели</a:t>
          </a:r>
          <a:endParaRPr lang="ru-RU" sz="1800" kern="1200" dirty="0"/>
        </a:p>
      </dsp:txBody>
      <dsp:txXfrm>
        <a:off x="32091" y="125088"/>
        <a:ext cx="1716153" cy="1004686"/>
      </dsp:txXfrm>
    </dsp:sp>
    <dsp:sp modelId="{9B23216D-6693-4BFC-9CF6-AD539BF88CA5}">
      <dsp:nvSpPr>
        <dsp:cNvPr id="0" name=""/>
        <dsp:cNvSpPr/>
      </dsp:nvSpPr>
      <dsp:spPr>
        <a:xfrm>
          <a:off x="1856082" y="406876"/>
          <a:ext cx="579647" cy="441109"/>
        </a:xfrm>
        <a:prstGeom prst="rightArrow">
          <a:avLst/>
        </a:prstGeom>
        <a:gradFill flip="none" rotWithShape="0">
          <a:gsLst>
            <a:gs pos="0">
              <a:schemeClr val="accent1">
                <a:lumMod val="60000"/>
                <a:lumOff val="40000"/>
                <a:shade val="30000"/>
                <a:satMod val="115000"/>
              </a:schemeClr>
            </a:gs>
            <a:gs pos="50000">
              <a:schemeClr val="accent1">
                <a:lumMod val="60000"/>
                <a:lumOff val="40000"/>
                <a:shade val="67500"/>
                <a:satMod val="115000"/>
              </a:schemeClr>
            </a:gs>
            <a:gs pos="100000">
              <a:schemeClr val="accent1">
                <a:lumMod val="60000"/>
                <a:lumOff val="40000"/>
                <a:shade val="100000"/>
                <a:satMod val="115000"/>
              </a:schemeClr>
            </a:gs>
          </a:gsLst>
          <a:path path="circle">
            <a:fillToRect t="100000" r="100000"/>
          </a:path>
          <a:tileRect l="-100000" b="-100000"/>
        </a:gra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1400" kern="1200"/>
        </a:p>
      </dsp:txBody>
      <dsp:txXfrm>
        <a:off x="1856082" y="495098"/>
        <a:ext cx="447314" cy="264665"/>
      </dsp:txXfrm>
    </dsp:sp>
    <dsp:sp modelId="{831935E8-20A3-4341-B34F-EBEC45D2FF16}">
      <dsp:nvSpPr>
        <dsp:cNvPr id="0" name=""/>
        <dsp:cNvSpPr/>
      </dsp:nvSpPr>
      <dsp:spPr>
        <a:xfrm>
          <a:off x="2490967" y="93831"/>
          <a:ext cx="1778667" cy="1067200"/>
        </a:xfrm>
        <a:prstGeom prst="roundRect">
          <a:avLst>
            <a:gd name="adj" fmla="val 10000"/>
          </a:avLst>
        </a:prstGeom>
        <a:solidFill>
          <a:schemeClr val="accent1">
            <a:lumMod val="60000"/>
            <a:lumOff val="4000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0" i="0" kern="1200" dirty="0"/>
            <a:t>Синтетические данные, ручное оценивание</a:t>
          </a:r>
          <a:endParaRPr lang="ru-RU" sz="1800" kern="1200" dirty="0"/>
        </a:p>
      </dsp:txBody>
      <dsp:txXfrm>
        <a:off x="2522224" y="125088"/>
        <a:ext cx="1716153" cy="100468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500D5A7-59F4-41BA-9665-D68A8DD51CF3}">
      <dsp:nvSpPr>
        <dsp:cNvPr id="0" name=""/>
        <dsp:cNvSpPr/>
      </dsp:nvSpPr>
      <dsp:spPr>
        <a:xfrm>
          <a:off x="525" y="0"/>
          <a:ext cx="1232347" cy="125486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b="0" i="0" kern="1200" dirty="0"/>
            <a:t>Низкая точность модели</a:t>
          </a:r>
          <a:endParaRPr lang="ru-RU" sz="1400" kern="1200" dirty="0"/>
        </a:p>
      </dsp:txBody>
      <dsp:txXfrm>
        <a:off x="36619" y="36094"/>
        <a:ext cx="1160159" cy="1182675"/>
      </dsp:txXfrm>
    </dsp:sp>
    <dsp:sp modelId="{9B23216D-6693-4BFC-9CF6-AD539BF88CA5}">
      <dsp:nvSpPr>
        <dsp:cNvPr id="0" name=""/>
        <dsp:cNvSpPr/>
      </dsp:nvSpPr>
      <dsp:spPr>
        <a:xfrm>
          <a:off x="1285932" y="474620"/>
          <a:ext cx="401607" cy="305622"/>
        </a:xfrm>
        <a:prstGeom prst="rightArrow">
          <a:avLst/>
        </a:prstGeom>
        <a:gradFill flip="none" rotWithShape="0">
          <a:gsLst>
            <a:gs pos="0">
              <a:schemeClr val="accent1">
                <a:lumMod val="60000"/>
                <a:lumOff val="40000"/>
                <a:shade val="30000"/>
                <a:satMod val="115000"/>
              </a:schemeClr>
            </a:gs>
            <a:gs pos="50000">
              <a:schemeClr val="accent1">
                <a:lumMod val="60000"/>
                <a:lumOff val="40000"/>
                <a:shade val="67500"/>
                <a:satMod val="115000"/>
              </a:schemeClr>
            </a:gs>
            <a:gs pos="100000">
              <a:schemeClr val="accent1">
                <a:lumMod val="60000"/>
                <a:lumOff val="40000"/>
                <a:shade val="100000"/>
                <a:satMod val="115000"/>
              </a:schemeClr>
            </a:gs>
          </a:gsLst>
          <a:path path="circle">
            <a:fillToRect t="100000" r="100000"/>
          </a:path>
          <a:tileRect l="-100000" b="-100000"/>
        </a:gra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1200" kern="1200"/>
        </a:p>
      </dsp:txBody>
      <dsp:txXfrm>
        <a:off x="1285932" y="535744"/>
        <a:ext cx="309920" cy="183374"/>
      </dsp:txXfrm>
    </dsp:sp>
    <dsp:sp modelId="{831935E8-20A3-4341-B34F-EBEC45D2FF16}">
      <dsp:nvSpPr>
        <dsp:cNvPr id="0" name=""/>
        <dsp:cNvSpPr/>
      </dsp:nvSpPr>
      <dsp:spPr>
        <a:xfrm>
          <a:off x="1725811" y="0"/>
          <a:ext cx="2544131" cy="1254863"/>
        </a:xfrm>
        <a:prstGeom prst="roundRect">
          <a:avLst>
            <a:gd name="adj" fmla="val 10000"/>
          </a:avLst>
        </a:prstGeom>
        <a:solidFill>
          <a:schemeClr val="accent1">
            <a:lumMod val="60000"/>
            <a:lumOff val="4000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b="0" i="0" kern="1200" dirty="0"/>
            <a:t>Анализ ошибок, добавление признаков, иной вариант (популярное + коллаборативная фильтрация)</a:t>
          </a:r>
          <a:endParaRPr lang="ru-RU" sz="1400" kern="1200" dirty="0"/>
        </a:p>
      </dsp:txBody>
      <dsp:txXfrm>
        <a:off x="1762565" y="36754"/>
        <a:ext cx="2470623" cy="118135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500D5A7-59F4-41BA-9665-D68A8DD51CF3}">
      <dsp:nvSpPr>
        <dsp:cNvPr id="0" name=""/>
        <dsp:cNvSpPr/>
      </dsp:nvSpPr>
      <dsp:spPr>
        <a:xfrm>
          <a:off x="1155" y="0"/>
          <a:ext cx="1472144" cy="125486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b="0" i="0" kern="1200" dirty="0"/>
            <a:t>Высокая нагрузка на сервер</a:t>
          </a:r>
          <a:endParaRPr lang="ru-RU" sz="1500" kern="1200" dirty="0"/>
        </a:p>
      </dsp:txBody>
      <dsp:txXfrm>
        <a:off x="37909" y="36754"/>
        <a:ext cx="1398636" cy="1181355"/>
      </dsp:txXfrm>
    </dsp:sp>
    <dsp:sp modelId="{9B23216D-6693-4BFC-9CF6-AD539BF88CA5}">
      <dsp:nvSpPr>
        <dsp:cNvPr id="0" name=""/>
        <dsp:cNvSpPr/>
      </dsp:nvSpPr>
      <dsp:spPr>
        <a:xfrm>
          <a:off x="1536683" y="444885"/>
          <a:ext cx="479754" cy="365091"/>
        </a:xfrm>
        <a:prstGeom prst="rightArrow">
          <a:avLst/>
        </a:prstGeom>
        <a:gradFill flip="none" rotWithShape="0">
          <a:gsLst>
            <a:gs pos="0">
              <a:schemeClr val="accent1">
                <a:lumMod val="60000"/>
                <a:lumOff val="40000"/>
                <a:shade val="30000"/>
                <a:satMod val="115000"/>
              </a:schemeClr>
            </a:gs>
            <a:gs pos="50000">
              <a:schemeClr val="accent1">
                <a:lumMod val="60000"/>
                <a:lumOff val="40000"/>
                <a:shade val="67500"/>
                <a:satMod val="115000"/>
              </a:schemeClr>
            </a:gs>
            <a:gs pos="100000">
              <a:schemeClr val="accent1">
                <a:lumMod val="60000"/>
                <a:lumOff val="40000"/>
                <a:shade val="100000"/>
                <a:satMod val="115000"/>
              </a:schemeClr>
            </a:gs>
          </a:gsLst>
          <a:path path="circle">
            <a:fillToRect t="100000" r="100000"/>
          </a:path>
          <a:tileRect l="-100000" b="-100000"/>
        </a:gra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1200" kern="1200"/>
        </a:p>
      </dsp:txBody>
      <dsp:txXfrm>
        <a:off x="1536683" y="517903"/>
        <a:ext cx="370227" cy="219055"/>
      </dsp:txXfrm>
    </dsp:sp>
    <dsp:sp modelId="{831935E8-20A3-4341-B34F-EBEC45D2FF16}">
      <dsp:nvSpPr>
        <dsp:cNvPr id="0" name=""/>
        <dsp:cNvSpPr/>
      </dsp:nvSpPr>
      <dsp:spPr>
        <a:xfrm>
          <a:off x="2062157" y="0"/>
          <a:ext cx="2207156" cy="1254863"/>
        </a:xfrm>
        <a:prstGeom prst="roundRect">
          <a:avLst>
            <a:gd name="adj" fmla="val 10000"/>
          </a:avLst>
        </a:prstGeom>
        <a:solidFill>
          <a:schemeClr val="accent1">
            <a:lumMod val="60000"/>
            <a:lumOff val="4000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b="0" i="0" kern="1200" dirty="0"/>
            <a:t>Кэширование, асинхронность, при необходимости – более мощный сервер</a:t>
          </a:r>
          <a:endParaRPr lang="ru-RU" sz="1500" kern="1200" dirty="0"/>
        </a:p>
      </dsp:txBody>
      <dsp:txXfrm>
        <a:off x="2098911" y="36754"/>
        <a:ext cx="2133648" cy="118135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1947FD-A716-4211-B699-A6B086DF38C3}" type="datetimeFigureOut">
              <a:rPr lang="ru-RU" smtClean="0"/>
              <a:t>05.06.2026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B70F4F-2F34-482B-84FB-D4CE52A251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015984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B70F4F-2F34-482B-84FB-D4CE52A251B5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61560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B70F4F-2F34-482B-84FB-D4CE52A251B5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30569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B70F4F-2F34-482B-84FB-D4CE52A251B5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92898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8CCF1-2E77-4A64-BE02-C09C5E2EF7D6}" type="datetime1">
              <a:rPr lang="ru-RU" smtClean="0"/>
              <a:t>05.06.2026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73314-C3AC-487C-8E31-FDBE340A6F4C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7584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32B67-2CD8-4589-92DA-D7A9F79848EC}" type="datetime1">
              <a:rPr lang="ru-RU" smtClean="0"/>
              <a:t>05.06.2026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/>
            </a:lvl1pPr>
          </a:lstStyle>
          <a:p>
            <a:fld id="{A5973314-C3AC-487C-8E31-FDBE340A6F4C}" type="slidenum">
              <a:rPr lang="ru-RU" smtClean="0"/>
              <a:pPr/>
              <a:t>‹#›</a:t>
            </a:fld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19887459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2369D-8065-4D88-B6A2-4381169300B4}" type="datetime1">
              <a:rPr lang="ru-RU" smtClean="0"/>
              <a:t>05.06.2026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00458" y="6459786"/>
            <a:ext cx="1312025" cy="284964"/>
          </a:xfrm>
        </p:spPr>
        <p:txBody>
          <a:bodyPr/>
          <a:lstStyle/>
          <a:p>
            <a:fld id="{A5973314-C3AC-487C-8E31-FDBE340A6F4C}" type="slidenum">
              <a:rPr lang="ru-RU" smtClean="0"/>
              <a:t>‹#›</a:t>
            </a:fld>
            <a:endParaRPr lang="ru-R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40336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98903-934B-48B1-B309-7133B8C2317F}" type="datetime1">
              <a:rPr lang="ru-RU" smtClean="0"/>
              <a:t>05.06.2026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/>
            </a:lvl1pPr>
          </a:lstStyle>
          <a:p>
            <a:fld id="{A5973314-C3AC-487C-8E31-FDBE340A6F4C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848905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0CEC3-8E6A-4101-BD09-1EDEBE0AD976}" type="datetime1">
              <a:rPr lang="ru-RU" smtClean="0"/>
              <a:t>05.06.2026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73314-C3AC-487C-8E31-FDBE340A6F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09989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7ECA8-7729-43DA-9049-C18FF7AF25A0}" type="datetime1">
              <a:rPr lang="ru-RU" smtClean="0"/>
              <a:t>05.06.2026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73314-C3AC-487C-8E31-FDBE340A6F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14718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20CC8-A20C-4249-A4FF-9317780A4016}" type="datetime1">
              <a:rPr lang="ru-RU" smtClean="0"/>
              <a:t>05.06.2026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73314-C3AC-487C-8E31-FDBE340A6F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884901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03F4CBAE-B1F8-40CB-AD59-6F3058F975C3}" type="datetime1">
              <a:rPr lang="ru-RU" smtClean="0"/>
              <a:t>05.06.2026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5973314-C3AC-487C-8E31-FDBE340A6F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241789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91FD1-542C-4091-A7C0-C725AC3A2669}" type="datetime1">
              <a:rPr lang="ru-RU" smtClean="0"/>
              <a:t>05.06.2026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73314-C3AC-487C-8E31-FDBE340A6F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216150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2E66F-F12B-4C89-AC80-BE33EC31B25F}" type="datetime1">
              <a:rPr lang="ru-RU" smtClean="0"/>
              <a:t>05.06.2026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73314-C3AC-487C-8E31-FDBE340A6F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424233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344DE-D35A-4CDF-86CF-34C99E2DD5D4}" type="datetime1">
              <a:rPr lang="ru-RU" smtClean="0"/>
              <a:t>05.06.2026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73314-C3AC-487C-8E31-FDBE340A6F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83619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EC59E107-6F98-4091-AB69-2D0030021222}" type="datetime1">
              <a:rPr lang="ru-RU" smtClean="0"/>
              <a:t>05.06.2026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FFFFF"/>
                </a:solidFill>
              </a:defRPr>
            </a:lvl1pPr>
          </a:lstStyle>
          <a:p>
            <a:fld id="{A5973314-C3AC-487C-8E31-FDBE340A6F4C}" type="slidenum">
              <a:rPr lang="ru-RU" smtClean="0"/>
              <a:pPr/>
              <a:t>‹#›</a:t>
            </a:fld>
            <a:endParaRPr lang="ru-RU" sz="2000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89586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4" r:id="rId1"/>
    <p:sldLayoutId id="2147483805" r:id="rId2"/>
    <p:sldLayoutId id="2147483806" r:id="rId3"/>
    <p:sldLayoutId id="2147483807" r:id="rId4"/>
    <p:sldLayoutId id="2147483808" r:id="rId5"/>
    <p:sldLayoutId id="2147483809" r:id="rId6"/>
    <p:sldLayoutId id="2147483810" r:id="rId7"/>
    <p:sldLayoutId id="2147483811" r:id="rId8"/>
    <p:sldLayoutId id="2147483812" r:id="rId9"/>
    <p:sldLayoutId id="2147483813" r:id="rId10"/>
    <p:sldLayoutId id="2147483814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13" Type="http://schemas.openxmlformats.org/officeDocument/2006/relationships/diagramLayout" Target="../diagrams/layout3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12" Type="http://schemas.openxmlformats.org/officeDocument/2006/relationships/diagramData" Target="../diagrams/data3.xml"/><Relationship Id="rId2" Type="http://schemas.openxmlformats.org/officeDocument/2006/relationships/diagramData" Target="../diagrams/data1.xml"/><Relationship Id="rId16" Type="http://schemas.microsoft.com/office/2007/relationships/diagramDrawing" Target="../diagrams/drawing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5" Type="http://schemas.openxmlformats.org/officeDocument/2006/relationships/diagramColors" Target="../diagrams/colors3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Relationship Id="rId14" Type="http://schemas.openxmlformats.org/officeDocument/2006/relationships/diagramQuickStyle" Target="../diagrams/quickStyle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899924-F31C-7B0C-CCDA-63B2D8EA41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2215990"/>
            <a:ext cx="10058400" cy="2109121"/>
          </a:xfrm>
        </p:spPr>
        <p:txBody>
          <a:bodyPr>
            <a:normAutofit/>
          </a:bodyPr>
          <a:lstStyle/>
          <a:p>
            <a:pPr algn="ctr"/>
            <a:r>
              <a:rPr lang="ru-RU" sz="4400" dirty="0"/>
              <a:t>Информационная система арт галереи. Модуль рекомендаций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C3501F58-6FDB-84F7-7677-08F2971BC435}"/>
              </a:ext>
            </a:extLst>
          </p:cNvPr>
          <p:cNvSpPr/>
          <p:nvPr/>
        </p:nvSpPr>
        <p:spPr>
          <a:xfrm>
            <a:off x="0" y="0"/>
            <a:ext cx="12192000" cy="22159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0340" marR="180340" algn="ctr">
              <a:lnSpc>
                <a:spcPct val="150000"/>
              </a:lnSpc>
              <a:spcAft>
                <a:spcPts val="0"/>
              </a:spcAft>
            </a:pPr>
            <a:r>
              <a:rPr lang="ru-RU" sz="1200" cap="all" spc="200" dirty="0">
                <a:solidFill>
                  <a:schemeClr val="tx2"/>
                </a:solidFill>
                <a:latin typeface="+mj-lt"/>
              </a:rPr>
              <a:t>Министерство науки и высшего образования Российской Федерации</a:t>
            </a:r>
          </a:p>
          <a:p>
            <a:pPr marL="180340" marR="180340" algn="ctr">
              <a:lnSpc>
                <a:spcPct val="150000"/>
              </a:lnSpc>
              <a:spcAft>
                <a:spcPts val="0"/>
              </a:spcAft>
            </a:pPr>
            <a:r>
              <a:rPr lang="ru-RU" sz="1200" cap="all" spc="200" dirty="0">
                <a:solidFill>
                  <a:schemeClr val="tx2"/>
                </a:solidFill>
                <a:latin typeface="+mj-lt"/>
              </a:rPr>
              <a:t>Федеральное государственное бюджетное образовательное учреждение высшего образования </a:t>
            </a:r>
          </a:p>
          <a:p>
            <a:pPr marL="180340" marR="180340" algn="ctr">
              <a:lnSpc>
                <a:spcPct val="150000"/>
              </a:lnSpc>
              <a:spcAft>
                <a:spcPts val="0"/>
              </a:spcAft>
            </a:pPr>
            <a:r>
              <a:rPr lang="ru-RU" sz="1200" cap="all" spc="200" dirty="0">
                <a:solidFill>
                  <a:schemeClr val="tx2"/>
                </a:solidFill>
                <a:latin typeface="+mj-lt"/>
              </a:rPr>
              <a:t>«Владимирский государственный университет </a:t>
            </a:r>
          </a:p>
          <a:p>
            <a:pPr marL="180340" marR="180340" algn="ctr">
              <a:lnSpc>
                <a:spcPct val="150000"/>
              </a:lnSpc>
              <a:spcAft>
                <a:spcPts val="0"/>
              </a:spcAft>
            </a:pPr>
            <a:r>
              <a:rPr lang="ru-RU" sz="1200" cap="all" spc="200" dirty="0">
                <a:solidFill>
                  <a:schemeClr val="tx2"/>
                </a:solidFill>
                <a:latin typeface="+mj-lt"/>
              </a:rPr>
              <a:t>имени Александра Григорьевича и Николая Григорьевича Столетовых»</a:t>
            </a:r>
          </a:p>
          <a:p>
            <a:pPr marL="180340" marR="180340" algn="ctr">
              <a:lnSpc>
                <a:spcPct val="150000"/>
              </a:lnSpc>
              <a:spcAft>
                <a:spcPts val="0"/>
              </a:spcAft>
            </a:pPr>
            <a:r>
              <a:rPr lang="ru-RU" sz="1200" cap="all" spc="200" dirty="0">
                <a:solidFill>
                  <a:schemeClr val="tx2"/>
                </a:solidFill>
                <a:latin typeface="+mj-lt"/>
              </a:rPr>
              <a:t>(</a:t>
            </a:r>
            <a:r>
              <a:rPr lang="ru-RU" sz="1200" cap="all" spc="200" dirty="0" err="1">
                <a:solidFill>
                  <a:schemeClr val="tx2"/>
                </a:solidFill>
                <a:latin typeface="+mj-lt"/>
              </a:rPr>
              <a:t>ВлГу</a:t>
            </a:r>
            <a:r>
              <a:rPr lang="ru-RU" sz="1200" cap="all" spc="200" dirty="0">
                <a:solidFill>
                  <a:schemeClr val="tx2"/>
                </a:solidFill>
                <a:latin typeface="+mj-lt"/>
              </a:rPr>
              <a:t>)</a:t>
            </a:r>
          </a:p>
          <a:p>
            <a:pPr marL="180340" marR="180340" algn="ctr">
              <a:lnSpc>
                <a:spcPct val="150000"/>
              </a:lnSpc>
              <a:spcAft>
                <a:spcPts val="0"/>
              </a:spcAft>
            </a:pPr>
            <a:endParaRPr lang="ru-RU" sz="1200" cap="all" spc="200" dirty="0">
              <a:solidFill>
                <a:schemeClr val="tx2"/>
              </a:solidFill>
              <a:latin typeface="+mj-lt"/>
            </a:endParaRPr>
          </a:p>
          <a:p>
            <a:pPr marL="180340" marR="180340" algn="ctr">
              <a:lnSpc>
                <a:spcPct val="150000"/>
              </a:lnSpc>
              <a:spcAft>
                <a:spcPts val="0"/>
              </a:spcAft>
            </a:pPr>
            <a:r>
              <a:rPr lang="ru-RU" sz="1200" cap="all" spc="200" dirty="0">
                <a:solidFill>
                  <a:schemeClr val="tx2"/>
                </a:solidFill>
                <a:latin typeface="+mj-lt"/>
              </a:rPr>
              <a:t>Институт информационных технологий и электроники</a:t>
            </a:r>
          </a:p>
          <a:p>
            <a:pPr algn="ctr"/>
            <a:r>
              <a:rPr lang="ru-RU" sz="1200" cap="all" spc="200" dirty="0">
                <a:solidFill>
                  <a:schemeClr val="tx2"/>
                </a:solidFill>
                <a:latin typeface="+mj-lt"/>
              </a:rPr>
              <a:t>Кафедра информационных систем и программной инженерии</a:t>
            </a:r>
            <a:endParaRPr lang="ru-RU" cap="all" spc="200" dirty="0">
              <a:solidFill>
                <a:schemeClr val="tx2"/>
              </a:solidFill>
              <a:latin typeface="+mj-lt"/>
            </a:endParaRPr>
          </a:p>
        </p:txBody>
      </p:sp>
      <p:sp>
        <p:nvSpPr>
          <p:cNvPr id="6" name="Подзаголовок 2">
            <a:extLst>
              <a:ext uri="{FF2B5EF4-FFF2-40B4-BE49-F238E27FC236}">
                <a16:creationId xmlns:a16="http://schemas.microsoft.com/office/drawing/2014/main" id="{8C408A93-475B-1FD4-64D3-C2E8E98A6A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0138" y="4456113"/>
            <a:ext cx="10058400" cy="1143000"/>
          </a:xfrm>
        </p:spPr>
        <p:txBody>
          <a:bodyPr anchor="ctr">
            <a:norm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200" dirty="0"/>
              <a:t>Выполнил: Студент группы ПРИ-122 Шутова Т.Е.</a:t>
            </a:r>
          </a:p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200" dirty="0"/>
              <a:t>Руководитель: к.т.н., доцент кафедры ИСПИ </a:t>
            </a:r>
            <a:r>
              <a:rPr lang="ru-RU" sz="1200" dirty="0" err="1"/>
              <a:t>Влгу</a:t>
            </a:r>
            <a:r>
              <a:rPr lang="ru-RU" sz="1200" dirty="0"/>
              <a:t> Озерова М.И.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CFBE912C-EA89-3318-B8BA-83F841851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73314-C3AC-487C-8E31-FDBE340A6F4C}" type="slidenum">
              <a:rPr lang="ru-RU" smtClean="0"/>
              <a:t>1</a:t>
            </a:fld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85174338-6AB2-2C5B-3C21-2681AC7B2071}"/>
              </a:ext>
            </a:extLst>
          </p:cNvPr>
          <p:cNvSpPr/>
          <p:nvPr/>
        </p:nvSpPr>
        <p:spPr>
          <a:xfrm>
            <a:off x="30480" y="5952565"/>
            <a:ext cx="12192000" cy="3407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0340" marR="180340" algn="ctr">
              <a:lnSpc>
                <a:spcPct val="150000"/>
              </a:lnSpc>
              <a:spcAft>
                <a:spcPts val="0"/>
              </a:spcAft>
            </a:pPr>
            <a:r>
              <a:rPr lang="ru-RU" sz="1200" cap="all" spc="200" dirty="0">
                <a:solidFill>
                  <a:schemeClr val="tx2"/>
                </a:solidFill>
                <a:latin typeface="+mj-lt"/>
              </a:rPr>
              <a:t>г. Владимир, 2026</a:t>
            </a:r>
            <a:endParaRPr lang="ru-RU" cap="all" spc="200" dirty="0">
              <a:solidFill>
                <a:schemeClr val="tx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9909976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6D48C4-4E13-2E91-223B-0E8502C5D9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Введение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3314DA1-0CCA-8066-3A86-D4A81919ED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Арт-галереи нуждаются в онлайн-платформе, учитывающей специфику художественного контента и предлагающей персонализированный подход. </a:t>
            </a:r>
          </a:p>
          <a:p>
            <a:r>
              <a:rPr lang="ru-RU" dirty="0"/>
              <a:t>Для повышения вовлечённости требуется модуль рекомендаций на основе данных о взаимодействиях с произведениями искусства. </a:t>
            </a:r>
          </a:p>
          <a:p>
            <a:r>
              <a:rPr lang="ru-RU" dirty="0"/>
              <a:t>Проект важен для цифровизации культуры, автоматизируя управление контентом и пользователями через интеллектуальные рекомендации на основе машинного обучения. Это увеличивает вовлеченность и время пребывания посетителей. </a:t>
            </a:r>
          </a:p>
          <a:p>
            <a:r>
              <a:rPr lang="ru-RU" dirty="0"/>
              <a:t>С технической стороны проект включает интеграцию гибридного алгоритма на основе машинного обучения с высоконагруженной серверной части на Java Spring MVC, предлагая воспроизводимые архитектурные решения.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6572523-24B1-5E3B-4981-A4BFD5C89E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73314-C3AC-487C-8E31-FDBE340A6F4C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945093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0CE555DC-31A3-B320-02A4-8BB38FC13E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Цели и задачи</a:t>
            </a:r>
          </a:p>
        </p:txBody>
      </p:sp>
      <p:sp>
        <p:nvSpPr>
          <p:cNvPr id="2" name="Объект 1">
            <a:extLst>
              <a:ext uri="{FF2B5EF4-FFF2-40B4-BE49-F238E27FC236}">
                <a16:creationId xmlns:a16="http://schemas.microsoft.com/office/drawing/2014/main" id="{463F2928-0049-978E-540C-4E1E2ABB297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u-RU" sz="4000" dirty="0"/>
              <a:t>Цель:</a:t>
            </a:r>
          </a:p>
          <a:p>
            <a:pPr marL="358775" indent="-358775">
              <a:buFont typeface="Calibri" panose="020F0502020204030204" pitchFamily="34" charset="0"/>
              <a:buChar char="―"/>
            </a:pPr>
            <a:r>
              <a:rPr lang="ru-RU" sz="2900" dirty="0"/>
              <a:t>Улучшение пользовательского опыта за счёт рекомендательной системы</a:t>
            </a:r>
          </a:p>
          <a:p>
            <a:pPr marL="91440" marR="0" lvl="0" indent="-9144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92278F"/>
              </a:buClr>
              <a:buSzPct val="100000"/>
              <a:buFont typeface="Calibri" panose="020F0502020204030204" pitchFamily="34" charset="0"/>
              <a:buChar char=" "/>
              <a:tabLst/>
              <a:defRPr/>
            </a:pPr>
            <a:r>
              <a:rPr kumimoji="0" lang="ru-RU" sz="3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Задачи:</a:t>
            </a:r>
          </a:p>
          <a:p>
            <a:pPr marL="355600" marR="0" lvl="0" indent="-35560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92278F"/>
              </a:buClr>
              <a:buSzPct val="100000"/>
              <a:buFont typeface="Calibri" panose="020F0502020204030204" pitchFamily="34" charset="0"/>
              <a:buChar char="―"/>
              <a:tabLst/>
              <a:defRPr/>
            </a:pPr>
            <a:r>
              <a:rPr kumimoji="0" lang="ru-RU" sz="2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Провести анализ подходов к построению рекомендательных систем.</a:t>
            </a:r>
          </a:p>
          <a:p>
            <a:pPr marL="355600" marR="0" lvl="0" indent="-35560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92278F"/>
              </a:buClr>
              <a:buSzPct val="100000"/>
              <a:buFont typeface="Calibri" panose="020F0502020204030204" pitchFamily="34" charset="0"/>
              <a:buChar char="―"/>
              <a:tabLst/>
              <a:defRPr/>
            </a:pPr>
            <a:r>
              <a:rPr kumimoji="0" lang="ru-RU" sz="2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Разработать алгоритм гибридных рекомендаций, </a:t>
            </a:r>
          </a:p>
          <a:p>
            <a:pPr marL="355600" marR="0" lvl="0" indent="-35560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92278F"/>
              </a:buClr>
              <a:buSzPct val="100000"/>
              <a:buFont typeface="Calibri" panose="020F0502020204030204" pitchFamily="34" charset="0"/>
              <a:buChar char="―"/>
              <a:tabLst/>
              <a:defRPr/>
            </a:pPr>
            <a:r>
              <a:rPr kumimoji="0" lang="ru-RU" sz="2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Реализовать на Python модуль для подготовки данных, обучения модели и формирования рекомендаций.</a:t>
            </a:r>
          </a:p>
          <a:p>
            <a:endParaRPr lang="ru-RU" dirty="0"/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09C45EB7-5953-512D-D3C1-ABE5C855EFE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Autofit/>
          </a:bodyPr>
          <a:lstStyle/>
          <a:p>
            <a:pPr marL="355600" indent="-355600">
              <a:buFont typeface="Calibri" panose="020F0502020204030204" pitchFamily="34" charset="0"/>
              <a:buChar char="―"/>
            </a:pPr>
            <a:r>
              <a:rPr lang="ru-RU" dirty="0"/>
              <a:t>Интегрировать Python-модуль в Java-приложение через вызов скриптов с передачей данных в формате JSON.</a:t>
            </a:r>
          </a:p>
          <a:p>
            <a:pPr marL="355600" indent="-355600">
              <a:buFont typeface="Calibri" panose="020F0502020204030204" pitchFamily="34" charset="0"/>
              <a:buChar char="―"/>
            </a:pPr>
            <a:r>
              <a:rPr lang="ru-RU" dirty="0"/>
              <a:t>Реализовать механизм рандомизированной выдачи рекомендаций: выбирать 12 из топ-50 и 8 из схожих работ для разнообразия.</a:t>
            </a:r>
          </a:p>
          <a:p>
            <a:pPr marL="355600" indent="-355600">
              <a:buFont typeface="Calibri" panose="020F0502020204030204" pitchFamily="34" charset="0"/>
              <a:buChar char="―"/>
            </a:pPr>
            <a:r>
              <a:rPr lang="ru-RU" dirty="0"/>
              <a:t>Обеспечить возможность ручного и автоматического переобучения модели и </a:t>
            </a:r>
            <a:r>
              <a:rPr lang="ru-RU" dirty="0" err="1"/>
              <a:t>пересканирования</a:t>
            </a:r>
            <a:r>
              <a:rPr lang="ru-RU" dirty="0"/>
              <a:t> изображений.</a:t>
            </a:r>
          </a:p>
          <a:p>
            <a:pPr marL="355600" indent="-355600">
              <a:buFont typeface="Calibri" panose="020F0502020204030204" pitchFamily="34" charset="0"/>
              <a:buChar char="―"/>
            </a:pPr>
            <a:r>
              <a:rPr lang="ru-RU" dirty="0"/>
              <a:t>Оценить качество работы модели с использованием метрик Precision@5, Recall@5 и </a:t>
            </a:r>
            <a:r>
              <a:rPr lang="ru-RU" dirty="0" err="1"/>
              <a:t>Coverage</a:t>
            </a:r>
            <a:r>
              <a:rPr lang="ru-RU" dirty="0"/>
              <a:t>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31CBE91-E0ED-C730-4884-94477144D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73314-C3AC-487C-8E31-FDBE340A6F4C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57190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C066B7-8D19-0C96-CC84-86DE7A123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Сравнительный анализ</a:t>
            </a:r>
          </a:p>
        </p:txBody>
      </p:sp>
      <p:graphicFrame>
        <p:nvGraphicFramePr>
          <p:cNvPr id="7" name="Объект 6">
            <a:extLst>
              <a:ext uri="{FF2B5EF4-FFF2-40B4-BE49-F238E27FC236}">
                <a16:creationId xmlns:a16="http://schemas.microsoft.com/office/drawing/2014/main" id="{5B5DB4D0-00FB-C719-F692-D09FF6054BF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62521323"/>
              </p:ext>
            </p:extLst>
          </p:nvPr>
        </p:nvGraphicFramePr>
        <p:xfrm>
          <a:off x="546100" y="1968501"/>
          <a:ext cx="11353800" cy="4127494"/>
        </p:xfrm>
        <a:graphic>
          <a:graphicData uri="http://schemas.openxmlformats.org/drawingml/2006/table">
            <a:tbl>
              <a:tblPr firstRow="1" firstCol="1" bandRow="1">
                <a:tableStyleId>{69012ECD-51FC-41F1-AA8D-1B2483CD663E}</a:tableStyleId>
              </a:tblPr>
              <a:tblGrid>
                <a:gridCol w="2468316">
                  <a:extLst>
                    <a:ext uri="{9D8B030D-6E8A-4147-A177-3AD203B41FA5}">
                      <a16:colId xmlns:a16="http://schemas.microsoft.com/office/drawing/2014/main" val="3863265550"/>
                    </a:ext>
                  </a:extLst>
                </a:gridCol>
                <a:gridCol w="2304823">
                  <a:extLst>
                    <a:ext uri="{9D8B030D-6E8A-4147-A177-3AD203B41FA5}">
                      <a16:colId xmlns:a16="http://schemas.microsoft.com/office/drawing/2014/main" val="999227942"/>
                    </a:ext>
                  </a:extLst>
                </a:gridCol>
                <a:gridCol w="1943770">
                  <a:extLst>
                    <a:ext uri="{9D8B030D-6E8A-4147-A177-3AD203B41FA5}">
                      <a16:colId xmlns:a16="http://schemas.microsoft.com/office/drawing/2014/main" val="1670632162"/>
                    </a:ext>
                  </a:extLst>
                </a:gridCol>
                <a:gridCol w="2147691">
                  <a:extLst>
                    <a:ext uri="{9D8B030D-6E8A-4147-A177-3AD203B41FA5}">
                      <a16:colId xmlns:a16="http://schemas.microsoft.com/office/drawing/2014/main" val="1964260055"/>
                    </a:ext>
                  </a:extLst>
                </a:gridCol>
                <a:gridCol w="2489200">
                  <a:extLst>
                    <a:ext uri="{9D8B030D-6E8A-4147-A177-3AD203B41FA5}">
                      <a16:colId xmlns:a16="http://schemas.microsoft.com/office/drawing/2014/main" val="2002662928"/>
                    </a:ext>
                  </a:extLst>
                </a:gridCol>
              </a:tblGrid>
              <a:tr h="287896">
                <a:tc>
                  <a:txBody>
                    <a:bodyPr/>
                    <a:lstStyle/>
                    <a:p>
                      <a:pPr marR="17145" algn="ctr">
                        <a:lnSpc>
                          <a:spcPct val="115000"/>
                        </a:lnSpc>
                        <a:buNone/>
                      </a:pPr>
                      <a:r>
                        <a:rPr lang="ru-RU" sz="1600">
                          <a:effectLst/>
                        </a:rPr>
                        <a:t>Критерий / Платформа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R="17145" algn="ctr">
                        <a:lnSpc>
                          <a:spcPct val="115000"/>
                        </a:lnSpc>
                        <a:buNone/>
                      </a:pPr>
                      <a:r>
                        <a:rPr lang="ru-RU" sz="1600">
                          <a:effectLst/>
                        </a:rPr>
                        <a:t>Pinterest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R="17145" algn="ctr">
                        <a:lnSpc>
                          <a:spcPct val="115000"/>
                        </a:lnSpc>
                        <a:buNone/>
                      </a:pPr>
                      <a:r>
                        <a:rPr lang="ru-RU" sz="1600">
                          <a:effectLst/>
                        </a:rPr>
                        <a:t>DeviantArt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R="17145" algn="ctr">
                        <a:lnSpc>
                          <a:spcPct val="115000"/>
                        </a:lnSpc>
                        <a:buNone/>
                      </a:pPr>
                      <a:r>
                        <a:rPr lang="ru-RU" sz="1600">
                          <a:effectLst/>
                        </a:rPr>
                        <a:t>ArtStation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R="17145" algn="ctr">
                        <a:lnSpc>
                          <a:spcPct val="115000"/>
                        </a:lnSpc>
                        <a:buNone/>
                      </a:pPr>
                      <a:r>
                        <a:rPr lang="ru-RU" sz="1600">
                          <a:effectLst/>
                        </a:rPr>
                        <a:t>Разр. ИС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293432279"/>
                  </a:ext>
                </a:extLst>
              </a:tr>
              <a:tr h="595182">
                <a:tc>
                  <a:txBody>
                    <a:bodyPr/>
                    <a:lstStyle/>
                    <a:p>
                      <a:pPr marR="17145">
                        <a:lnSpc>
                          <a:spcPct val="115000"/>
                        </a:lnSpc>
                        <a:buNone/>
                      </a:pPr>
                      <a:r>
                        <a:rPr lang="ru-RU" sz="1600" dirty="0">
                          <a:effectLst/>
                        </a:rPr>
                        <a:t>Фокус на искусстве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R="17145">
                        <a:lnSpc>
                          <a:spcPct val="115000"/>
                        </a:lnSpc>
                        <a:buNone/>
                      </a:pPr>
                      <a:r>
                        <a:rPr lang="ru-RU" sz="1600">
                          <a:effectLst/>
                        </a:rPr>
                        <a:t>Визуальный агрегатор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R="17145">
                        <a:lnSpc>
                          <a:spcPct val="115000"/>
                        </a:lnSpc>
                        <a:buNone/>
                      </a:pPr>
                      <a:r>
                        <a:rPr lang="ru-RU" sz="1600" dirty="0">
                          <a:effectLst/>
                        </a:rPr>
                        <a:t>Сообщество художников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17145">
                        <a:lnSpc>
                          <a:spcPct val="115000"/>
                        </a:lnSpc>
                        <a:buNone/>
                      </a:pPr>
                      <a:r>
                        <a:rPr lang="ru-RU" sz="1600" dirty="0">
                          <a:effectLst/>
                        </a:rPr>
                        <a:t>Профессиональные цифровые художники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17145">
                        <a:lnSpc>
                          <a:spcPct val="115000"/>
                        </a:lnSpc>
                        <a:buNone/>
                      </a:pPr>
                      <a:r>
                        <a:rPr lang="ru-RU" sz="1600" dirty="0">
                          <a:effectLst/>
                        </a:rPr>
                        <a:t>Арт-галерея, сообщество художников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53037"/>
                  </a:ext>
                </a:extLst>
              </a:tr>
              <a:tr h="595182">
                <a:tc>
                  <a:txBody>
                    <a:bodyPr/>
                    <a:lstStyle/>
                    <a:p>
                      <a:pPr marR="17145">
                        <a:lnSpc>
                          <a:spcPct val="115000"/>
                        </a:lnSpc>
                        <a:buNone/>
                      </a:pPr>
                      <a:r>
                        <a:rPr lang="ru-RU" sz="1600" dirty="0">
                          <a:effectLst/>
                        </a:rPr>
                        <a:t>Премодерация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R="17145">
                        <a:lnSpc>
                          <a:spcPct val="115000"/>
                        </a:lnSpc>
                        <a:buNone/>
                      </a:pPr>
                      <a:r>
                        <a:rPr lang="ru-RU" sz="1600" dirty="0">
                          <a:effectLst/>
                        </a:rPr>
                        <a:t>Нет (жалобы)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R="17145">
                        <a:lnSpc>
                          <a:spcPct val="115000"/>
                        </a:lnSpc>
                        <a:buNone/>
                      </a:pPr>
                      <a:r>
                        <a:rPr lang="ru-RU" sz="1600" dirty="0">
                          <a:effectLst/>
                        </a:rPr>
                        <a:t>Выборочная, жалобы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17145">
                        <a:lnSpc>
                          <a:spcPct val="115000"/>
                        </a:lnSpc>
                        <a:buNone/>
                      </a:pPr>
                      <a:r>
                        <a:rPr lang="ru-RU" sz="1600" dirty="0">
                          <a:effectLst/>
                        </a:rPr>
                        <a:t>Нет (жалобы)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R="17145">
                        <a:lnSpc>
                          <a:spcPct val="115000"/>
                        </a:lnSpc>
                        <a:buNone/>
                      </a:pPr>
                      <a:r>
                        <a:rPr lang="ru-RU" sz="1600" dirty="0">
                          <a:effectLst/>
                        </a:rPr>
                        <a:t>На основе нейронной сети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2674720"/>
                  </a:ext>
                </a:extLst>
              </a:tr>
              <a:tr h="595182">
                <a:tc>
                  <a:txBody>
                    <a:bodyPr/>
                    <a:lstStyle/>
                    <a:p>
                      <a:pPr marR="17145">
                        <a:lnSpc>
                          <a:spcPct val="115000"/>
                        </a:lnSpc>
                        <a:buNone/>
                      </a:pPr>
                      <a:r>
                        <a:rPr lang="ru-RU" sz="1600" dirty="0">
                          <a:effectLst/>
                        </a:rPr>
                        <a:t>Лайки / Комментарии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R="17145">
                        <a:lnSpc>
                          <a:spcPct val="115000"/>
                        </a:lnSpc>
                        <a:buNone/>
                      </a:pPr>
                      <a:r>
                        <a:rPr lang="ru-RU" sz="1600" dirty="0">
                          <a:effectLst/>
                        </a:rPr>
                        <a:t>Да (сохранения) / Ограниченно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17145">
                        <a:lnSpc>
                          <a:spcPct val="115000"/>
                        </a:lnSpc>
                        <a:buNone/>
                      </a:pPr>
                      <a:r>
                        <a:rPr lang="ru-RU" sz="1600" dirty="0">
                          <a:effectLst/>
                        </a:rPr>
                        <a:t>Да / Да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17145">
                        <a:lnSpc>
                          <a:spcPct val="115000"/>
                        </a:lnSpc>
                        <a:buNone/>
                      </a:pPr>
                      <a:r>
                        <a:rPr lang="ru-RU" sz="1600" dirty="0">
                          <a:effectLst/>
                        </a:rPr>
                        <a:t>Да / Да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17145">
                        <a:lnSpc>
                          <a:spcPct val="115000"/>
                        </a:lnSpc>
                        <a:buNone/>
                      </a:pPr>
                      <a:r>
                        <a:rPr lang="ru-RU" sz="1600" dirty="0">
                          <a:effectLst/>
                        </a:rPr>
                        <a:t>Да / Да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4561113"/>
                  </a:ext>
                </a:extLst>
              </a:tr>
              <a:tr h="287896">
                <a:tc>
                  <a:txBody>
                    <a:bodyPr/>
                    <a:lstStyle/>
                    <a:p>
                      <a:pPr marR="17145">
                        <a:lnSpc>
                          <a:spcPct val="115000"/>
                        </a:lnSpc>
                        <a:buNone/>
                      </a:pPr>
                      <a:r>
                        <a:rPr lang="ru-RU" sz="1600" dirty="0">
                          <a:effectLst/>
                        </a:rPr>
                        <a:t>Категории/Теги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R="17145">
                        <a:lnSpc>
                          <a:spcPct val="115000"/>
                        </a:lnSpc>
                        <a:buNone/>
                      </a:pPr>
                      <a:r>
                        <a:rPr lang="ru-RU" sz="1600" dirty="0">
                          <a:effectLst/>
                        </a:rPr>
                        <a:t>Теги, доски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17145">
                        <a:lnSpc>
                          <a:spcPct val="115000"/>
                        </a:lnSpc>
                        <a:buNone/>
                      </a:pPr>
                      <a:r>
                        <a:rPr lang="ru-RU" sz="1600" dirty="0">
                          <a:effectLst/>
                        </a:rPr>
                        <a:t>Категории, теги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17145">
                        <a:lnSpc>
                          <a:spcPct val="115000"/>
                        </a:lnSpc>
                        <a:buNone/>
                      </a:pPr>
                      <a:r>
                        <a:rPr lang="ru-RU" sz="1600" dirty="0">
                          <a:effectLst/>
                        </a:rPr>
                        <a:t>Теги, проекты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17145">
                        <a:lnSpc>
                          <a:spcPct val="115000"/>
                        </a:lnSpc>
                        <a:buNone/>
                      </a:pPr>
                      <a:r>
                        <a:rPr lang="ru-RU" sz="1600" dirty="0">
                          <a:effectLst/>
                        </a:rPr>
                        <a:t>Категории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6357842"/>
                  </a:ext>
                </a:extLst>
              </a:tr>
              <a:tr h="287896">
                <a:tc>
                  <a:txBody>
                    <a:bodyPr/>
                    <a:lstStyle/>
                    <a:p>
                      <a:pPr marR="17145">
                        <a:lnSpc>
                          <a:spcPct val="115000"/>
                        </a:lnSpc>
                        <a:buNone/>
                      </a:pPr>
                      <a:r>
                        <a:rPr lang="ru-RU" sz="1600" dirty="0">
                          <a:effectLst/>
                        </a:rPr>
                        <a:t>Коллекции 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R="17145">
                        <a:lnSpc>
                          <a:spcPct val="115000"/>
                        </a:lnSpc>
                        <a:buNone/>
                      </a:pPr>
                      <a:r>
                        <a:rPr lang="ru-RU" sz="1600" dirty="0">
                          <a:effectLst/>
                        </a:rPr>
                        <a:t>Доски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17145">
                        <a:lnSpc>
                          <a:spcPct val="115000"/>
                        </a:lnSpc>
                        <a:buNone/>
                      </a:pPr>
                      <a:r>
                        <a:rPr lang="ru-RU" sz="1600" dirty="0">
                          <a:effectLst/>
                        </a:rPr>
                        <a:t>Галереи, коллекции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17145">
                        <a:lnSpc>
                          <a:spcPct val="115000"/>
                        </a:lnSpc>
                        <a:buNone/>
                      </a:pPr>
                      <a:r>
                        <a:rPr lang="ru-RU" sz="1600">
                          <a:effectLst/>
                        </a:rPr>
                        <a:t>Проекты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R="17145">
                        <a:lnSpc>
                          <a:spcPct val="115000"/>
                        </a:lnSpc>
                        <a:buNone/>
                      </a:pPr>
                      <a:r>
                        <a:rPr lang="ru-RU" sz="1600" dirty="0">
                          <a:effectLst/>
                        </a:rPr>
                        <a:t>Выставки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2085000"/>
                  </a:ext>
                </a:extLst>
              </a:tr>
              <a:tr h="287896">
                <a:tc>
                  <a:txBody>
                    <a:bodyPr/>
                    <a:lstStyle/>
                    <a:p>
                      <a:pPr marR="17145">
                        <a:lnSpc>
                          <a:spcPct val="115000"/>
                        </a:lnSpc>
                        <a:buNone/>
                      </a:pPr>
                      <a:r>
                        <a:rPr lang="ru-RU" sz="1600" dirty="0">
                          <a:effectLst/>
                        </a:rPr>
                        <a:t>Профиль как портфолио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R="17145">
                        <a:lnSpc>
                          <a:spcPct val="115000"/>
                        </a:lnSpc>
                        <a:buNone/>
                      </a:pPr>
                      <a:r>
                        <a:rPr lang="ru-RU" sz="1600">
                          <a:effectLst/>
                        </a:rPr>
                        <a:t>Сборник досок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R="17145">
                        <a:lnSpc>
                          <a:spcPct val="115000"/>
                        </a:lnSpc>
                        <a:buNone/>
                      </a:pPr>
                      <a:r>
                        <a:rPr lang="ru-RU" sz="1600" dirty="0">
                          <a:effectLst/>
                        </a:rPr>
                        <a:t>Очень развит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17145">
                        <a:lnSpc>
                          <a:spcPct val="115000"/>
                        </a:lnSpc>
                        <a:buNone/>
                      </a:pPr>
                      <a:r>
                        <a:rPr lang="ru-RU" sz="1600" dirty="0">
                          <a:effectLst/>
                        </a:rPr>
                        <a:t>Развит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17145">
                        <a:lnSpc>
                          <a:spcPct val="115000"/>
                        </a:lnSpc>
                        <a:buNone/>
                      </a:pPr>
                      <a:r>
                        <a:rPr lang="ru-RU" sz="1600" dirty="0">
                          <a:effectLst/>
                        </a:rPr>
                        <a:t>Развит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9995718"/>
                  </a:ext>
                </a:extLst>
              </a:tr>
              <a:tr h="595182">
                <a:tc>
                  <a:txBody>
                    <a:bodyPr/>
                    <a:lstStyle/>
                    <a:p>
                      <a:pPr marR="17145">
                        <a:lnSpc>
                          <a:spcPct val="115000"/>
                        </a:lnSpc>
                        <a:buNone/>
                      </a:pPr>
                      <a:r>
                        <a:rPr lang="ru-RU" sz="1600" dirty="0">
                          <a:effectLst/>
                        </a:rPr>
                        <a:t>Монетизация/Продажи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R="17145">
                        <a:lnSpc>
                          <a:spcPct val="115000"/>
                        </a:lnSpc>
                        <a:buNone/>
                      </a:pPr>
                      <a:r>
                        <a:rPr lang="ru-RU" sz="1600" dirty="0">
                          <a:effectLst/>
                        </a:rPr>
                        <a:t>Партнерские ссылки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17145">
                        <a:lnSpc>
                          <a:spcPct val="115000"/>
                        </a:lnSpc>
                        <a:buNone/>
                      </a:pPr>
                      <a:r>
                        <a:rPr lang="ru-RU" sz="1600" dirty="0">
                          <a:effectLst/>
                        </a:rPr>
                        <a:t>Продажа принтов, комиссии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17145">
                        <a:lnSpc>
                          <a:spcPct val="115000"/>
                        </a:lnSpc>
                        <a:buNone/>
                      </a:pPr>
                      <a:r>
                        <a:rPr lang="ru-RU" sz="1600" dirty="0">
                          <a:effectLst/>
                        </a:rPr>
                        <a:t>Продажа работ, найм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17145">
                        <a:lnSpc>
                          <a:spcPct val="115000"/>
                        </a:lnSpc>
                        <a:buNone/>
                      </a:pPr>
                      <a:r>
                        <a:rPr lang="ru-RU" sz="1600" dirty="0">
                          <a:effectLst/>
                        </a:rPr>
                        <a:t>Партнерские ссылки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2353280"/>
                  </a:ext>
                </a:extLst>
              </a:tr>
              <a:tr h="595182">
                <a:tc>
                  <a:txBody>
                    <a:bodyPr/>
                    <a:lstStyle/>
                    <a:p>
                      <a:pPr marR="17145">
                        <a:lnSpc>
                          <a:spcPct val="115000"/>
                        </a:lnSpc>
                        <a:buNone/>
                      </a:pPr>
                      <a:r>
                        <a:rPr lang="ru-RU" sz="1600" dirty="0">
                          <a:effectLst/>
                        </a:rPr>
                        <a:t>Тип рекомендаций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R="17145">
                        <a:lnSpc>
                          <a:spcPct val="115000"/>
                        </a:lnSpc>
                        <a:buNone/>
                      </a:pPr>
                      <a:r>
                        <a:rPr lang="ru-RU" sz="1600" dirty="0">
                          <a:effectLst/>
                        </a:rPr>
                        <a:t>Популярное, похожие пины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R="17145">
                        <a:lnSpc>
                          <a:spcPct val="115000"/>
                        </a:lnSpc>
                        <a:buNone/>
                      </a:pPr>
                      <a:r>
                        <a:rPr lang="ru-RU" sz="1600" dirty="0">
                          <a:effectLst/>
                        </a:rPr>
                        <a:t>Популярное, подписки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R="17145">
                        <a:lnSpc>
                          <a:spcPct val="115000"/>
                        </a:lnSpc>
                        <a:buNone/>
                      </a:pPr>
                      <a:r>
                        <a:rPr lang="ru-RU" sz="1600" dirty="0">
                          <a:effectLst/>
                        </a:rPr>
                        <a:t>Популярное, теги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R="17145">
                        <a:lnSpc>
                          <a:spcPct val="115000"/>
                        </a:lnSpc>
                        <a:buNone/>
                      </a:pPr>
                      <a:r>
                        <a:rPr lang="ru-RU" sz="1600" dirty="0">
                          <a:effectLst/>
                        </a:rPr>
                        <a:t>Гибридный (SVD + TF‑IDF) + визуальное сходство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1408536"/>
                  </a:ext>
                </a:extLst>
              </a:tr>
            </a:tbl>
          </a:graphicData>
        </a:graphic>
      </p:graphicFrame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7E09251-7268-8FEF-9DE7-6917D7BD8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73314-C3AC-487C-8E31-FDBE340A6F4C}" type="slidenum">
              <a:rPr lang="ru-RU" smtClean="0"/>
              <a:pPr/>
              <a:t>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231655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3A8755-0130-D4B6-027D-22F0525222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Анализ требований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082F806B-A155-66D8-DE8E-4E08301926E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ru-RU" sz="2400" dirty="0"/>
              <a:t>Требования к веб-приложению:</a:t>
            </a:r>
          </a:p>
          <a:p>
            <a:pPr marL="358775" indent="-358775">
              <a:lnSpc>
                <a:spcPct val="70000"/>
              </a:lnSpc>
              <a:buFont typeface="Calibri" panose="020F0502020204030204" pitchFamily="34" charset="0"/>
              <a:buChar char="―"/>
            </a:pPr>
            <a:r>
              <a:rPr lang="ru-RU" sz="2200" dirty="0"/>
              <a:t>Регистрация, аутентификация, роли (Художник, Администратор, Посетитель)</a:t>
            </a:r>
          </a:p>
          <a:p>
            <a:pPr marL="358775" indent="-358775">
              <a:lnSpc>
                <a:spcPct val="70000"/>
              </a:lnSpc>
              <a:buFont typeface="Calibri" panose="020F0502020204030204" pitchFamily="34" charset="0"/>
              <a:buChar char="―"/>
            </a:pPr>
            <a:r>
              <a:rPr lang="ru-RU" sz="2200" dirty="0"/>
              <a:t>Загрузка работ → автоматическая модерация → сканирование визуальных признаков → общий доступ в случае успеха</a:t>
            </a:r>
          </a:p>
          <a:p>
            <a:pPr marL="358775" indent="-358775">
              <a:lnSpc>
                <a:spcPct val="70000"/>
              </a:lnSpc>
              <a:buFont typeface="Calibri" panose="020F0502020204030204" pitchFamily="34" charset="0"/>
              <a:buChar char="―"/>
            </a:pPr>
            <a:r>
              <a:rPr lang="ru-RU" sz="2200" dirty="0"/>
              <a:t>Лайки, комментарии, создание выставок (публичных / приватных)</a:t>
            </a:r>
          </a:p>
          <a:p>
            <a:pPr marL="358775" indent="-358775">
              <a:lnSpc>
                <a:spcPct val="70000"/>
              </a:lnSpc>
              <a:buFont typeface="Calibri" panose="020F0502020204030204" pitchFamily="34" charset="0"/>
              <a:buChar char="―"/>
            </a:pPr>
            <a:r>
              <a:rPr lang="ru-RU" sz="2200" dirty="0"/>
              <a:t>REST API для веб-клиента</a:t>
            </a:r>
          </a:p>
          <a:p>
            <a:endParaRPr lang="ru-RU" dirty="0"/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C88F961-E0C8-078A-A5D8-66777C08806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ru-RU" sz="2400" dirty="0"/>
              <a:t>Требования к модулю рекомендаций:</a:t>
            </a:r>
          </a:p>
          <a:p>
            <a:pPr marL="358775" indent="-358775">
              <a:lnSpc>
                <a:spcPct val="80000"/>
              </a:lnSpc>
              <a:buFont typeface="Calibri" panose="020F0502020204030204" pitchFamily="34" charset="0"/>
              <a:buChar char="―"/>
            </a:pPr>
            <a:r>
              <a:rPr lang="ru-RU" sz="2200" dirty="0"/>
              <a:t>Гибридный алгоритм: SVD + TF‑IDF</a:t>
            </a:r>
          </a:p>
          <a:p>
            <a:pPr marL="358775" indent="-358775">
              <a:lnSpc>
                <a:spcPct val="80000"/>
              </a:lnSpc>
              <a:buFont typeface="Calibri" panose="020F0502020204030204" pitchFamily="34" charset="0"/>
              <a:buChar char="―"/>
            </a:pPr>
            <a:r>
              <a:rPr lang="ru-RU" sz="2200" dirty="0"/>
              <a:t>Визуальные признаки: </a:t>
            </a:r>
            <a:r>
              <a:rPr lang="ru-RU" sz="2200" dirty="0" err="1"/>
              <a:t>OpenCLIP</a:t>
            </a:r>
            <a:r>
              <a:rPr lang="ru-RU" sz="2200" dirty="0"/>
              <a:t> и цветовые сходства</a:t>
            </a:r>
          </a:p>
          <a:p>
            <a:pPr marL="358775" indent="-358775">
              <a:lnSpc>
                <a:spcPct val="80000"/>
              </a:lnSpc>
              <a:buFont typeface="Calibri" panose="020F0502020204030204" pitchFamily="34" charset="0"/>
              <a:buChar char="―"/>
            </a:pPr>
            <a:r>
              <a:rPr lang="ru-RU" sz="2200" dirty="0"/>
              <a:t>Два режима: обучение (офлайн) и </a:t>
            </a:r>
            <a:r>
              <a:rPr lang="ru-RU" sz="2200" dirty="0" err="1"/>
              <a:t>инференс</a:t>
            </a:r>
            <a:r>
              <a:rPr lang="ru-RU" sz="2200" dirty="0"/>
              <a:t> (топ‑50 → выбор 12)</a:t>
            </a:r>
          </a:p>
          <a:p>
            <a:pPr marL="358775" indent="-358775">
              <a:lnSpc>
                <a:spcPct val="80000"/>
              </a:lnSpc>
              <a:buFont typeface="Calibri" panose="020F0502020204030204" pitchFamily="34" charset="0"/>
              <a:buChar char="―"/>
            </a:pPr>
            <a:r>
              <a:rPr lang="ru-RU" sz="2200" dirty="0"/>
              <a:t>Интеграция с Java через </a:t>
            </a:r>
            <a:r>
              <a:rPr lang="ru-RU" sz="2200" dirty="0" err="1"/>
              <a:t>ProcessBuilder</a:t>
            </a:r>
            <a:r>
              <a:rPr lang="ru-RU" sz="2200" dirty="0"/>
              <a:t> (JSON)</a:t>
            </a:r>
          </a:p>
          <a:p>
            <a:pPr marL="358775" indent="-358775">
              <a:lnSpc>
                <a:spcPct val="80000"/>
              </a:lnSpc>
              <a:buFont typeface="Calibri" panose="020F0502020204030204" pitchFamily="34" charset="0"/>
              <a:buChar char="―"/>
            </a:pPr>
            <a:r>
              <a:rPr lang="ru-RU" sz="2200" dirty="0"/>
              <a:t>Метрики: Precision@5 ≥ 0,2, Recall@5 ≥ 0,5, время </a:t>
            </a:r>
            <a:r>
              <a:rPr lang="ru-RU" sz="2200" dirty="0" err="1"/>
              <a:t>инференса</a:t>
            </a:r>
            <a:r>
              <a:rPr lang="ru-RU" sz="2200" dirty="0"/>
              <a:t> ≤ 5 с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B5E0E28-025B-D517-37E0-0CFA318FC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73314-C3AC-487C-8E31-FDBE340A6F4C}" type="slidenum">
              <a:rPr lang="ru-RU" smtClean="0"/>
              <a:pPr/>
              <a:t>5</a:t>
            </a:fld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36833488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1CCD48-276A-2EE9-CE5C-C514E1C1F6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Архитектура системы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9A0CBF1-86E0-4C19-2308-D107F08AC4F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ru-RU" sz="2400" dirty="0"/>
              <a:t>Пользователи: Посетитель (неавторизованный пользователь), Художник (авторизованный пользователь), Администратор </a:t>
            </a:r>
            <a:endParaRPr lang="en-US" sz="2400" dirty="0"/>
          </a:p>
          <a:p>
            <a:r>
              <a:rPr lang="ru-RU" sz="2400" dirty="0"/>
              <a:t>Веб-приложение:</a:t>
            </a:r>
            <a:r>
              <a:rPr lang="en-US" sz="2400" dirty="0"/>
              <a:t> </a:t>
            </a:r>
            <a:r>
              <a:rPr lang="ru-RU" sz="2400" dirty="0"/>
              <a:t>монолит, Java 17, Spring MVC, Spring Security, </a:t>
            </a:r>
            <a:r>
              <a:rPr lang="ru-RU" sz="2400" dirty="0" err="1"/>
              <a:t>Hibernate</a:t>
            </a:r>
            <a:r>
              <a:rPr lang="ru-RU" sz="2400" dirty="0"/>
              <a:t>, MySQL 8.0</a:t>
            </a:r>
            <a:endParaRPr lang="en-US" sz="2400" dirty="0"/>
          </a:p>
          <a:p>
            <a:r>
              <a:rPr lang="ru-RU" sz="2400" dirty="0"/>
              <a:t>Рекомендательная система: </a:t>
            </a:r>
            <a:r>
              <a:rPr lang="en-US" sz="2400" dirty="0"/>
              <a:t>Python 3.11, </a:t>
            </a:r>
            <a:r>
              <a:rPr lang="ru-RU" sz="2400" dirty="0" err="1"/>
              <a:t>pandas</a:t>
            </a:r>
            <a:r>
              <a:rPr lang="ru-RU" sz="2400" dirty="0"/>
              <a:t>, </a:t>
            </a:r>
            <a:r>
              <a:rPr lang="ru-RU" sz="2400" dirty="0" err="1"/>
              <a:t>numpy</a:t>
            </a:r>
            <a:r>
              <a:rPr lang="ru-RU" sz="2400" dirty="0"/>
              <a:t>, </a:t>
            </a:r>
            <a:r>
              <a:rPr lang="ru-RU" sz="2400" dirty="0" err="1"/>
              <a:t>scikit-learn</a:t>
            </a:r>
            <a:r>
              <a:rPr lang="ru-RU" sz="2400" dirty="0"/>
              <a:t>, </a:t>
            </a:r>
            <a:r>
              <a:rPr lang="ru-RU" sz="2400" dirty="0" err="1"/>
              <a:t>open_clip_torch</a:t>
            </a:r>
            <a:r>
              <a:rPr lang="ru-RU" sz="2400" dirty="0"/>
              <a:t>, </a:t>
            </a:r>
            <a:r>
              <a:rPr lang="ru-RU" sz="2400" dirty="0" err="1"/>
              <a:t>torch</a:t>
            </a:r>
            <a:r>
              <a:rPr lang="ru-RU" sz="2400" dirty="0"/>
              <a:t>.</a:t>
            </a:r>
            <a:endParaRPr lang="en-US" sz="2400" dirty="0"/>
          </a:p>
          <a:p>
            <a:r>
              <a:rPr lang="ru-RU" sz="2400" dirty="0"/>
              <a:t>Хранилище: </a:t>
            </a:r>
            <a:r>
              <a:rPr lang="en-US" sz="2400" dirty="0" err="1"/>
              <a:t>MinIO</a:t>
            </a:r>
            <a:endParaRPr lang="ru-RU" sz="2400" dirty="0"/>
          </a:p>
          <a:p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2511891-84A7-34F3-32AC-F71331572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73314-C3AC-487C-8E31-FDBE340A6F4C}" type="slidenum">
              <a:rPr lang="ru-RU" smtClean="0"/>
              <a:pPr/>
              <a:t>6</a:t>
            </a:fld>
            <a:endParaRPr lang="ru-RU" dirty="0"/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AC58DA4F-7C1A-FDFD-051A-C232374B5CC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431726" y="1846263"/>
            <a:ext cx="4510149" cy="4022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12812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5B7524D4-BD2C-A9BF-7CC0-C41CDFE3EA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Диаграмма развёртывания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BF5B2429-155D-DBE7-3DB2-E7BC635C4689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1D83149-B3B6-5FCA-5042-3C4F06188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73314-C3AC-487C-8E31-FDBE340A6F4C}" type="slidenum">
              <a:rPr lang="ru-RU" smtClean="0"/>
              <a:pPr/>
              <a:t>7</a:t>
            </a:fld>
            <a:endParaRPr lang="ru-RU" dirty="0"/>
          </a:p>
        </p:txBody>
      </p:sp>
      <p:pic>
        <p:nvPicPr>
          <p:cNvPr id="9" name="Объект 8">
            <a:extLst>
              <a:ext uri="{FF2B5EF4-FFF2-40B4-BE49-F238E27FC236}">
                <a16:creationId xmlns:a16="http://schemas.microsoft.com/office/drawing/2014/main" id="{0EE1963B-B416-4E6A-6A9A-025063B051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4294253" y="996950"/>
            <a:ext cx="7674843" cy="48641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96838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31C7AC-1147-1AFA-F28C-CBFE8D3B8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Диаграмма прецедентов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1C0CBFA-C917-3B4D-926E-8BCC23E2EEE3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ru-RU" dirty="0"/>
              <a:t>Действия, связанные с модулем:</a:t>
            </a:r>
          </a:p>
          <a:p>
            <a:pPr marL="285750" indent="-285750">
              <a:buClr>
                <a:schemeClr val="bg2"/>
              </a:buClr>
              <a:buFont typeface="Calibri" panose="020F0502020204030204" pitchFamily="34" charset="0"/>
              <a:buChar char="―"/>
            </a:pPr>
            <a:r>
              <a:rPr lang="ru-RU" dirty="0"/>
              <a:t>Три режима просмотра списка публикаций</a:t>
            </a:r>
          </a:p>
          <a:p>
            <a:pPr marL="285750" indent="-285750">
              <a:buClr>
                <a:schemeClr val="bg2"/>
              </a:buClr>
              <a:buFont typeface="Calibri" panose="020F0502020204030204" pitchFamily="34" charset="0"/>
              <a:buChar char="―"/>
            </a:pPr>
            <a:r>
              <a:rPr lang="ru-RU" dirty="0"/>
              <a:t>Обновление рекомендаций</a:t>
            </a:r>
          </a:p>
          <a:p>
            <a:pPr marL="285750" indent="-285750">
              <a:buClr>
                <a:schemeClr val="bg2"/>
              </a:buClr>
              <a:buFont typeface="Calibri" panose="020F0502020204030204" pitchFamily="34" charset="0"/>
              <a:buChar char="―"/>
            </a:pPr>
            <a:r>
              <a:rPr lang="ru-RU" dirty="0"/>
              <a:t>Улучшены детали публикации</a:t>
            </a:r>
          </a:p>
          <a:p>
            <a:pPr marL="285750" indent="-285750">
              <a:buClr>
                <a:schemeClr val="bg2"/>
              </a:buClr>
              <a:buFont typeface="Calibri" panose="020F0502020204030204" pitchFamily="34" charset="0"/>
              <a:buChar char="―"/>
            </a:pPr>
            <a:r>
              <a:rPr lang="ru-RU" dirty="0"/>
              <a:t>Переобучение модели</a:t>
            </a:r>
          </a:p>
          <a:p>
            <a:pPr marL="285750" indent="-285750">
              <a:buClr>
                <a:schemeClr val="bg2"/>
              </a:buClr>
              <a:buFont typeface="Calibri" panose="020F0502020204030204" pitchFamily="34" charset="0"/>
              <a:buChar char="―"/>
            </a:pPr>
            <a:r>
              <a:rPr lang="ru-RU" dirty="0"/>
              <a:t>Сканирование изображений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AEDEE2E-E386-8205-67F6-09EE07447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73314-C3AC-487C-8E31-FDBE340A6F4C}" type="slidenum">
              <a:rPr lang="ru-RU" smtClean="0"/>
              <a:t>8</a:t>
            </a:fld>
            <a:endParaRPr lang="ru-RU"/>
          </a:p>
        </p:txBody>
      </p:sp>
      <p:pic>
        <p:nvPicPr>
          <p:cNvPr id="9" name="Объект 8">
            <a:extLst>
              <a:ext uri="{FF2B5EF4-FFF2-40B4-BE49-F238E27FC236}">
                <a16:creationId xmlns:a16="http://schemas.microsoft.com/office/drawing/2014/main" id="{1CACADA3-D7D9-84DC-68D1-86056C01FD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8271" y="33090"/>
            <a:ext cx="4728151" cy="679182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093885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657E5D-D51C-4683-5F15-95305680D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ER-</a:t>
            </a:r>
            <a:r>
              <a:rPr lang="ru-RU" dirty="0"/>
              <a:t>диаграмма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8EAAD7C-19ED-A2C6-4A3C-06B4494BE89D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864FB2B-6188-D59E-21C6-166BD2545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73314-C3AC-487C-8E31-FDBE340A6F4C}" type="slidenum">
              <a:rPr lang="ru-RU" smtClean="0"/>
              <a:t>9</a:t>
            </a:fld>
            <a:endParaRPr lang="ru-RU"/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09823867-DBD0-0D29-51CE-A18C1A67E5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7648" y="292558"/>
            <a:ext cx="6034835" cy="627288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406716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69C0576D-ADA0-CF81-521F-F0F003E49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Математическая модель персонализированных рекомендаций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Объект 6">
                <a:extLst>
                  <a:ext uri="{FF2B5EF4-FFF2-40B4-BE49-F238E27FC236}">
                    <a16:creationId xmlns:a16="http://schemas.microsoft.com/office/drawing/2014/main" id="{F5AF4E61-ADA4-794C-D135-81A04610AD0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1346200" indent="-1346200"/>
                <a:endParaRPr lang="ru-RU" sz="2400" i="1" dirty="0"/>
              </a:p>
              <a:p>
                <a:pPr marL="1346200" indent="-1346200"/>
                <a14:m>
                  <m:oMath xmlns:m="http://schemas.openxmlformats.org/officeDocument/2006/math">
                    <m:r>
                      <a:rPr lang="ru-RU" sz="2400" i="1">
                        <a:latin typeface="Cambria Math" panose="02040503050406030204" pitchFamily="18" charset="0"/>
                      </a:rPr>
                      <m:t>𝑠𝑐𝑜𝑟𝑒</m:t>
                    </m:r>
                    <m:d>
                      <m:d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sz="2400" i="1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ru-RU" sz="240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ru-RU" sz="2400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ru-RU" sz="2400">
                        <a:latin typeface="Cambria Math" panose="02040503050406030204" pitchFamily="18" charset="0"/>
                      </a:rPr>
                      <m:t>= </m:t>
                    </m:r>
                    <m:r>
                      <a:rPr lang="ru-RU" sz="2400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ru-RU" sz="2400">
                        <a:latin typeface="Cambria Math" panose="02040503050406030204" pitchFamily="18" charset="0"/>
                      </a:rPr>
                      <m:t>∗ </m:t>
                    </m:r>
                    <m:f>
                      <m:f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ru-RU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sz="24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ru-RU" sz="2400" i="1">
                                <a:latin typeface="Cambria Math" panose="02040503050406030204" pitchFamily="18" charset="0"/>
                              </a:rPr>
                              <m:t>𝑢𝑖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ru-RU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sz="2400" i="1">
                                <a:latin typeface="Cambria Math" panose="02040503050406030204" pitchFamily="18" charset="0"/>
                              </a:rPr>
                              <m:t>𝑚𝑎𝑥</m:t>
                            </m:r>
                          </m:e>
                          <m:sub>
                            <m:r>
                              <a:rPr lang="ru-RU" sz="24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sSub>
                          <m:sSubPr>
                            <m:ctrlPr>
                              <a:rPr lang="ru-RU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sz="24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ru-RU" sz="2400" i="1">
                                <a:latin typeface="Cambria Math" panose="02040503050406030204" pitchFamily="18" charset="0"/>
                              </a:rPr>
                              <m:t>𝑢𝑗</m:t>
                            </m:r>
                          </m:sub>
                        </m:sSub>
                      </m:den>
                    </m:f>
                    <m:r>
                      <a:rPr lang="ru-RU" sz="240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ru-RU" sz="240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sz="2400">
                            <a:latin typeface="Cambria Math" panose="02040503050406030204" pitchFamily="18" charset="0"/>
                          </a:rPr>
                          <m:t>1− </m:t>
                        </m:r>
                        <m:r>
                          <a:rPr lang="ru-RU" sz="240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</m:d>
                    <m:r>
                      <a:rPr lang="ru-RU" sz="2400">
                        <a:latin typeface="Cambria Math" panose="02040503050406030204" pitchFamily="18" charset="0"/>
                      </a:rPr>
                      <m:t>∗ </m:t>
                    </m:r>
                    <m:f>
                      <m:f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ru-RU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sz="2400" i="1">
                                <a:latin typeface="Cambria Math" panose="02040503050406030204" pitchFamily="18" charset="0"/>
                              </a:rPr>
                              <m:t>𝑠𝑖𝑚</m:t>
                            </m:r>
                          </m:e>
                          <m:sub>
                            <m:r>
                              <a:rPr lang="ru-RU" sz="2400" i="1">
                                <a:latin typeface="Cambria Math" panose="02040503050406030204" pitchFamily="18" charset="0"/>
                              </a:rPr>
                              <m:t>𝑐𝑜𝑛𝑡𝑒𝑛𝑡</m:t>
                            </m:r>
                          </m:sub>
                        </m:sSub>
                        <m:r>
                          <a:rPr lang="ru-RU" sz="2400">
                            <a:latin typeface="Cambria Math" panose="02040503050406030204" pitchFamily="18" charset="0"/>
                          </a:rPr>
                          <m:t>​</m:t>
                        </m:r>
                        <m:d>
                          <m:dPr>
                            <m:ctrlPr>
                              <a:rPr lang="ru-RU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ru-RU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ru-RU" sz="240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ru-RU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u-RU" sz="2400" i="1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e>
                              <m:sub>
                                <m:r>
                                  <a:rPr lang="ru-RU" sz="2400" i="1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sub>
                            </m:sSub>
                            <m:r>
                              <a:rPr lang="ru-RU" sz="2400"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</m:d>
                      </m:num>
                      <m:den>
                        <m:sSub>
                          <m:sSubPr>
                            <m:ctrlPr>
                              <a:rPr lang="ru-RU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sz="2400" i="1">
                                <a:latin typeface="Cambria Math" panose="02040503050406030204" pitchFamily="18" charset="0"/>
                              </a:rPr>
                              <m:t>𝑚𝑎𝑥</m:t>
                            </m:r>
                          </m:e>
                          <m:sub>
                            <m:r>
                              <a:rPr lang="ru-RU" sz="24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sSub>
                          <m:sSubPr>
                            <m:ctrlPr>
                              <a:rPr lang="ru-RU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sz="2400" i="1">
                                <a:latin typeface="Cambria Math" panose="02040503050406030204" pitchFamily="18" charset="0"/>
                              </a:rPr>
                              <m:t>𝑠𝑖𝑚</m:t>
                            </m:r>
                          </m:e>
                          <m:sub>
                            <m:r>
                              <a:rPr lang="ru-RU" sz="2400" i="1">
                                <a:latin typeface="Cambria Math" panose="02040503050406030204" pitchFamily="18" charset="0"/>
                              </a:rPr>
                              <m:t>𝑐𝑜𝑛𝑡𝑒𝑛𝑡</m:t>
                            </m:r>
                          </m:sub>
                        </m:sSub>
                        <m:r>
                          <a:rPr lang="ru-RU" sz="2400">
                            <a:latin typeface="Cambria Math" panose="02040503050406030204" pitchFamily="18" charset="0"/>
                          </a:rPr>
                          <m:t>​</m:t>
                        </m:r>
                        <m:d>
                          <m:dPr>
                            <m:ctrlPr>
                              <a:rPr lang="ru-RU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ru-RU" sz="24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ru-RU" sz="240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ru-RU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u-RU" sz="2400" i="1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e>
                              <m:sub>
                                <m:r>
                                  <a:rPr lang="ru-RU" sz="2400" i="1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sub>
                            </m:sSub>
                            <m:r>
                              <a:rPr lang="ru-RU" sz="2400"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</m:d>
                      </m:den>
                    </m:f>
                    <m:r>
                      <a:rPr lang="ru-RU" sz="2400">
                        <a:latin typeface="Cambria Math" panose="02040503050406030204" pitchFamily="18" charset="0"/>
                      </a:rPr>
                      <m:t> ,</m:t>
                    </m:r>
                  </m:oMath>
                </a14:m>
                <a:endParaRPr lang="ru-RU" sz="2400" dirty="0"/>
              </a:p>
              <a:p>
                <a:r>
                  <a:rPr lang="ru-RU" sz="2400" dirty="0"/>
                  <a:t>где </a:t>
                </a:r>
                <a:r>
                  <a:rPr lang="en-US" sz="2400" i="1" dirty="0"/>
                  <a:t>α </a:t>
                </a:r>
                <a:r>
                  <a:rPr lang="ru-RU" sz="2400" dirty="0"/>
                  <a:t>= 0.6 – коэффициент, определяющий вклад коллаборативной составляющей; </a:t>
                </a:r>
              </a:p>
              <a:p>
                <a:r>
                  <a:rPr lang="ru-RU" sz="2400" dirty="0" err="1"/>
                  <a:t>r</a:t>
                </a:r>
                <a:r>
                  <a:rPr lang="ru-RU" sz="2400" baseline="-25000" dirty="0" err="1"/>
                  <a:t>ui</a:t>
                </a:r>
                <a:r>
                  <a:rPr lang="ru-RU" sz="2400" baseline="-25000" dirty="0"/>
                  <a:t> </a:t>
                </a:r>
                <a:r>
                  <a:rPr lang="ru-RU" sz="2400" dirty="0"/>
                  <a:t>– предсказанный </a:t>
                </a:r>
                <a:r>
                  <a:rPr lang="en-US" sz="2400" dirty="0"/>
                  <a:t>SVD</a:t>
                </a:r>
                <a:r>
                  <a:rPr lang="ru-RU" sz="2400" dirty="0"/>
                  <a:t>-рейтинг;</a:t>
                </a:r>
                <a:r>
                  <a:rPr lang="ru-RU" sz="2400" baseline="-25000" dirty="0"/>
                  <a:t> </a:t>
                </a:r>
                <a:endParaRPr lang="ru-RU" sz="2400" dirty="0"/>
              </a:p>
              <a:p>
                <a:r>
                  <a:rPr lang="en-US" sz="2400" baseline="-25000" dirty="0"/>
                  <a:t>­</a:t>
                </a:r>
                <a:r>
                  <a:rPr lang="en-US" sz="2400" dirty="0" err="1"/>
                  <a:t>sim</a:t>
                </a:r>
                <a:r>
                  <a:rPr lang="en-US" sz="2400" baseline="-25000" dirty="0" err="1"/>
                  <a:t>content</a:t>
                </a:r>
                <a:r>
                  <a:rPr lang="en-US" sz="2400" dirty="0"/>
                  <a:t>(</a:t>
                </a:r>
                <a:r>
                  <a:rPr lang="en-US" sz="2400" dirty="0" err="1"/>
                  <a:t>i</a:t>
                </a:r>
                <a:r>
                  <a:rPr lang="en-US" sz="2400" dirty="0"/>
                  <a:t>, L) – </a:t>
                </a:r>
                <a:r>
                  <a:rPr lang="en-US" sz="2400" dirty="0" err="1"/>
                  <a:t>максимальное</a:t>
                </a:r>
                <a:r>
                  <a:rPr lang="en-US" sz="2400" dirty="0"/>
                  <a:t> </a:t>
                </a:r>
                <a:r>
                  <a:rPr lang="en-US" sz="2400" dirty="0" err="1"/>
                  <a:t>косинусное</a:t>
                </a:r>
                <a:r>
                  <a:rPr lang="en-US" sz="2400" dirty="0"/>
                  <a:t> </a:t>
                </a:r>
                <a:r>
                  <a:rPr lang="en-US" sz="2400" dirty="0" err="1"/>
                  <a:t>сходство</a:t>
                </a:r>
                <a:r>
                  <a:rPr lang="en-US" sz="2400" dirty="0"/>
                  <a:t> </a:t>
                </a:r>
                <a:r>
                  <a:rPr lang="en-US" sz="2400" dirty="0" err="1"/>
                  <a:t>работы</a:t>
                </a:r>
                <a:r>
                  <a:rPr lang="en-US" sz="2400" dirty="0"/>
                  <a:t> I с </a:t>
                </a:r>
                <a:r>
                  <a:rPr lang="en-US" sz="2400" dirty="0" err="1"/>
                  <a:t>работами</a:t>
                </a:r>
                <a:r>
                  <a:rPr lang="en-US" sz="2400" dirty="0"/>
                  <a:t>, </a:t>
                </a:r>
                <a:r>
                  <a:rPr lang="en-US" sz="2400" dirty="0" err="1"/>
                  <a:t>которые</a:t>
                </a:r>
                <a:r>
                  <a:rPr lang="en-US" sz="2400" dirty="0"/>
                  <a:t> </a:t>
                </a:r>
                <a:r>
                  <a:rPr lang="en-US" sz="2400" dirty="0" err="1"/>
                  <a:t>пользователь</a:t>
                </a:r>
                <a:r>
                  <a:rPr lang="en-US" sz="2400" dirty="0"/>
                  <a:t> </a:t>
                </a:r>
                <a:r>
                  <a:rPr lang="en-US" sz="2400" dirty="0" err="1"/>
                  <a:t>ранее</a:t>
                </a:r>
                <a:r>
                  <a:rPr lang="en-US" sz="2400" dirty="0"/>
                  <a:t> </a:t>
                </a:r>
                <a:r>
                  <a:rPr lang="en-US" sz="2400" dirty="0" err="1"/>
                  <a:t>лайкнул</a:t>
                </a:r>
                <a:r>
                  <a:rPr lang="en-US" sz="2400" dirty="0"/>
                  <a:t> (</a:t>
                </a:r>
                <a:r>
                  <a:rPr lang="en-US" sz="2400" dirty="0" err="1"/>
                  <a:t>множество</a:t>
                </a:r>
                <a:r>
                  <a:rPr lang="en-US" sz="2400" dirty="0"/>
                  <a:t> L</a:t>
                </a:r>
                <a:r>
                  <a:rPr lang="en-US" sz="2400" baseline="-25000" dirty="0"/>
                  <a:t>u</a:t>
                </a:r>
                <a:r>
                  <a:rPr lang="en-US" sz="2400" dirty="0"/>
                  <a:t>).</a:t>
                </a:r>
                <a:endParaRPr lang="ru-RU" sz="2400" dirty="0"/>
              </a:p>
            </p:txBody>
          </p:sp>
        </mc:Choice>
        <mc:Fallback xmlns="">
          <p:sp>
            <p:nvSpPr>
              <p:cNvPr id="7" name="Объект 6">
                <a:extLst>
                  <a:ext uri="{FF2B5EF4-FFF2-40B4-BE49-F238E27FC236}">
                    <a16:creationId xmlns:a16="http://schemas.microsoft.com/office/drawing/2014/main" id="{F5AF4E61-ADA4-794C-D135-81A04610AD0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0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53ABF4D-3A2A-4502-9549-88D254DF3E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73314-C3AC-487C-8E31-FDBE340A6F4C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19160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26288A-C798-F4E4-7319-34476907EC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6520" y="286603"/>
            <a:ext cx="7397454" cy="1450757"/>
          </a:xfrm>
        </p:spPr>
        <p:txBody>
          <a:bodyPr/>
          <a:lstStyle/>
          <a:p>
            <a:r>
              <a:rPr lang="ru-RU" dirty="0"/>
              <a:t>Алгоритм обучения модели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A6F6F31-5BAD-40DF-07A1-051445A969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6519" y="1818043"/>
            <a:ext cx="7112822" cy="4402666"/>
          </a:xfrm>
        </p:spPr>
        <p:txBody>
          <a:bodyPr>
            <a:noAutofit/>
          </a:bodyPr>
          <a:lstStyle/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ru-RU" sz="1800" dirty="0"/>
              <a:t>Подключение к MySQL, загрузка данных о работах, категориях, лайках и комментариях.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ru-RU" sz="1800" dirty="0"/>
              <a:t>Создание </a:t>
            </a:r>
            <a:r>
              <a:rPr lang="ru-RU" sz="1800" dirty="0" err="1"/>
              <a:t>датафрейма</a:t>
            </a:r>
            <a:r>
              <a:rPr lang="ru-RU" sz="1800" dirty="0"/>
              <a:t> </a:t>
            </a:r>
            <a:r>
              <a:rPr lang="ru-RU" sz="1800" dirty="0" err="1"/>
              <a:t>interactions_df</a:t>
            </a:r>
            <a:r>
              <a:rPr lang="ru-RU" sz="1800" dirty="0"/>
              <a:t> с колонками </a:t>
            </a:r>
            <a:r>
              <a:rPr lang="ru-RU" sz="1800" dirty="0" err="1"/>
              <a:t>user_id</a:t>
            </a:r>
            <a:r>
              <a:rPr lang="ru-RU" sz="1800" dirty="0"/>
              <a:t>, </a:t>
            </a:r>
            <a:r>
              <a:rPr lang="ru-RU" sz="1800" dirty="0" err="1"/>
              <a:t>artwork_id</a:t>
            </a:r>
            <a:r>
              <a:rPr lang="ru-RU" sz="1800" dirty="0"/>
              <a:t>, </a:t>
            </a:r>
            <a:r>
              <a:rPr lang="ru-RU" sz="1800" dirty="0" err="1"/>
              <a:t>rating</a:t>
            </a:r>
            <a:r>
              <a:rPr lang="ru-RU" sz="1800" dirty="0"/>
              <a:t> (лайк = 1.0, комментарий = 0.5).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ru-RU" sz="1800" dirty="0"/>
              <a:t>Разделение данных на обучающую (75%) и тестовую (25%) выборки.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ru-RU" sz="1800" dirty="0"/>
              <a:t>Построение TF-IDF матрицы для текстовых строк «автор + категории», вычисление матрицы косинусного сходства </a:t>
            </a:r>
            <a:r>
              <a:rPr lang="ru-RU" sz="1800" dirty="0" err="1"/>
              <a:t>content_sim</a:t>
            </a:r>
            <a:r>
              <a:rPr lang="ru-RU" sz="1800" dirty="0"/>
              <a:t>.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ru-RU" sz="1800" dirty="0"/>
              <a:t>Обучение SVD на обучающей выборке с помощью </a:t>
            </a:r>
            <a:r>
              <a:rPr lang="ru-RU" sz="1800" dirty="0" err="1"/>
              <a:t>SimpleSVD</a:t>
            </a:r>
            <a:r>
              <a:rPr lang="ru-RU" sz="1800" dirty="0"/>
              <a:t>.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ru-RU" sz="1800" dirty="0"/>
              <a:t>Оценка качества на тестовой выборке по метрикам Precision@5, Recall@5, </a:t>
            </a:r>
            <a:r>
              <a:rPr lang="ru-RU" sz="1800" dirty="0" err="1"/>
              <a:t>Coverage</a:t>
            </a:r>
            <a:r>
              <a:rPr lang="ru-RU" sz="1800" dirty="0"/>
              <a:t>.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ru-RU" sz="1800" dirty="0"/>
              <a:t>Сериализация модели (SVD, </a:t>
            </a:r>
            <a:r>
              <a:rPr lang="ru-RU" sz="1800" dirty="0" err="1"/>
              <a:t>content_sim</a:t>
            </a:r>
            <a:r>
              <a:rPr lang="ru-RU" sz="1800" dirty="0"/>
              <a:t>, </a:t>
            </a:r>
            <a:r>
              <a:rPr lang="ru-RU" sz="1800" dirty="0" err="1"/>
              <a:t>artworks_df</a:t>
            </a:r>
            <a:r>
              <a:rPr lang="ru-RU" sz="1800" dirty="0"/>
              <a:t>, </a:t>
            </a:r>
            <a:r>
              <a:rPr lang="ru-RU" sz="1800" dirty="0" err="1"/>
              <a:t>interactions_df</a:t>
            </a:r>
            <a:r>
              <a:rPr lang="ru-RU" sz="1800" dirty="0"/>
              <a:t>) в </a:t>
            </a:r>
            <a:r>
              <a:rPr lang="ru-RU" sz="1800" dirty="0" err="1"/>
              <a:t>recommendation_model.pkl</a:t>
            </a:r>
            <a:r>
              <a:rPr lang="ru-RU" sz="1800" dirty="0"/>
              <a:t>.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ru-RU" sz="1800" dirty="0"/>
              <a:t>Сохранение метаданных (время обучения, метрики, параметры) в </a:t>
            </a:r>
            <a:r>
              <a:rPr lang="ru-RU" sz="1800" dirty="0" err="1"/>
              <a:t>model_metadata.json</a:t>
            </a:r>
            <a:r>
              <a:rPr lang="ru-RU" sz="1800" dirty="0"/>
              <a:t>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3F09A4C-DE36-BD37-C3B2-A63A69971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73314-C3AC-487C-8E31-FDBE340A6F4C}" type="slidenum">
              <a:rPr lang="ru-RU" smtClean="0"/>
              <a:pPr/>
              <a:t>11</a:t>
            </a:fld>
            <a:endParaRPr lang="ru-RU" sz="2000" dirty="0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3BB34557-04FC-8DD6-C7E3-6B0BB6610C1A}"/>
              </a:ext>
            </a:extLst>
          </p:cNvPr>
          <p:cNvSpPr/>
          <p:nvPr/>
        </p:nvSpPr>
        <p:spPr>
          <a:xfrm>
            <a:off x="7489341" y="1646257"/>
            <a:ext cx="3914775" cy="262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B3EBD257-908C-51FF-CAB6-11B220D0E0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3973" y="770894"/>
            <a:ext cx="4252970" cy="5316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67458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BC73FA-B6DA-4673-D1C2-CC5998EF9E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Реализованные страницы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F47044DC-3343-5200-A048-D93C7870BB6F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ru-RU" dirty="0"/>
              <a:t>Список рекомендаций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8EF5F4A-9714-8A7A-C3BB-B048BDAC9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73314-C3AC-487C-8E31-FDBE340A6F4C}" type="slidenum">
              <a:rPr lang="ru-RU" smtClean="0"/>
              <a:pPr/>
              <a:t>12</a:t>
            </a:fld>
            <a:endParaRPr lang="ru-RU" sz="2000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0007E17-B862-7022-16CF-FA0FBF68F7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419819" y="157605"/>
            <a:ext cx="5589463" cy="3144072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F53394D5-ED6E-04E1-5C3C-9F76A27CDE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420162" y="3316098"/>
            <a:ext cx="5588776" cy="3143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40944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C5DA90-3AF4-02F8-6D77-F33B9E452C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FB03FA-5638-AA71-5869-13B8F9F9B6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Реализованные страницы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8FE08459-C6B6-1D50-B898-F00D4CF55A72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ru-RU" dirty="0"/>
              <a:t>Детали публикации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E715E7D-D36B-8E0D-CA16-B01FBAD28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73314-C3AC-487C-8E31-FDBE340A6F4C}" type="slidenum">
              <a:rPr lang="ru-RU" smtClean="0"/>
              <a:pPr/>
              <a:t>13</a:t>
            </a:fld>
            <a:endParaRPr lang="ru-RU" sz="2000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614CCEB-DBEC-BB27-8CB9-C9C5E45D57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420667" y="157479"/>
            <a:ext cx="5587766" cy="3144324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0D526A9E-DE9C-2FCA-53C3-34B54BC776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420869" y="3316098"/>
            <a:ext cx="5587362" cy="3143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51943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C1729A-3FA6-EE67-9B73-0070883376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DF4592-126C-6C21-6E33-9FE17F528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Реализованные страницы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3295C10A-7923-6429-B2F0-719C437784F0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ru-RU" dirty="0"/>
              <a:t>Админ-панель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7A448EB-2679-DCD4-0414-445DDBDF9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73314-C3AC-487C-8E31-FDBE340A6F4C}" type="slidenum">
              <a:rPr lang="ru-RU" smtClean="0"/>
              <a:pPr/>
              <a:t>14</a:t>
            </a:fld>
            <a:endParaRPr lang="ru-RU" sz="2000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9733D50-6EE6-03FA-BFA1-6AA9CD5F59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26327" y="1402147"/>
            <a:ext cx="7208473" cy="4053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58560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7">
            <a:extLst>
              <a:ext uri="{FF2B5EF4-FFF2-40B4-BE49-F238E27FC236}">
                <a16:creationId xmlns:a16="http://schemas.microsoft.com/office/drawing/2014/main" id="{ABBE527E-071E-047D-BABE-435F1176E8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Тестирование</a:t>
            </a:r>
          </a:p>
        </p:txBody>
      </p:sp>
      <p:graphicFrame>
        <p:nvGraphicFramePr>
          <p:cNvPr id="13" name="Объект 12">
            <a:extLst>
              <a:ext uri="{FF2B5EF4-FFF2-40B4-BE49-F238E27FC236}">
                <a16:creationId xmlns:a16="http://schemas.microsoft.com/office/drawing/2014/main" id="{E6CD6AFD-E64C-B785-8D35-9A084D6F153B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229001994"/>
              </p:ext>
            </p:extLst>
          </p:nvPr>
        </p:nvGraphicFramePr>
        <p:xfrm>
          <a:off x="5676900" y="2092508"/>
          <a:ext cx="5478780" cy="356559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065044">
                  <a:extLst>
                    <a:ext uri="{9D8B030D-6E8A-4147-A177-3AD203B41FA5}">
                      <a16:colId xmlns:a16="http://schemas.microsoft.com/office/drawing/2014/main" val="3120371877"/>
                    </a:ext>
                  </a:extLst>
                </a:gridCol>
                <a:gridCol w="1413736">
                  <a:extLst>
                    <a:ext uri="{9D8B030D-6E8A-4147-A177-3AD203B41FA5}">
                      <a16:colId xmlns:a16="http://schemas.microsoft.com/office/drawing/2014/main" val="2289206948"/>
                    </a:ext>
                  </a:extLst>
                </a:gridCol>
              </a:tblGrid>
              <a:tr h="225136">
                <a:tc>
                  <a:txBody>
                    <a:bodyPr/>
                    <a:lstStyle/>
                    <a:p>
                      <a:pPr marL="107950" algn="ctr">
                        <a:lnSpc>
                          <a:spcPct val="115000"/>
                        </a:lnSpc>
                        <a:buNone/>
                      </a:pPr>
                      <a:r>
                        <a:rPr lang="en-US" sz="1800">
                          <a:effectLst/>
                        </a:rPr>
                        <a:t>Показатель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3914" marR="53914" marT="0" marB="0"/>
                </a:tc>
                <a:tc>
                  <a:txBody>
                    <a:bodyPr/>
                    <a:lstStyle/>
                    <a:p>
                      <a:pPr marL="107950" algn="ctr">
                        <a:lnSpc>
                          <a:spcPct val="115000"/>
                        </a:lnSpc>
                        <a:buNone/>
                      </a:pPr>
                      <a:r>
                        <a:rPr lang="en-US" sz="1800">
                          <a:effectLst/>
                        </a:rPr>
                        <a:t>Значение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3914" marR="53914" marT="0" marB="0"/>
                </a:tc>
                <a:extLst>
                  <a:ext uri="{0D108BD9-81ED-4DB2-BD59-A6C34878D82A}">
                    <a16:rowId xmlns:a16="http://schemas.microsoft.com/office/drawing/2014/main" val="602783539"/>
                  </a:ext>
                </a:extLst>
              </a:tr>
              <a:tr h="225136">
                <a:tc>
                  <a:txBody>
                    <a:bodyPr/>
                    <a:lstStyle/>
                    <a:p>
                      <a:pPr marL="107950">
                        <a:lnSpc>
                          <a:spcPct val="115000"/>
                        </a:lnSpc>
                        <a:buNone/>
                      </a:pPr>
                      <a:r>
                        <a:rPr lang="en-US" sz="1800">
                          <a:effectLst/>
                        </a:rPr>
                        <a:t>Количество запросов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3914" marR="53914" marT="0" marB="0"/>
                </a:tc>
                <a:tc>
                  <a:txBody>
                    <a:bodyPr/>
                    <a:lstStyle/>
                    <a:p>
                      <a:pPr marL="107950">
                        <a:lnSpc>
                          <a:spcPct val="115000"/>
                        </a:lnSpc>
                        <a:buNone/>
                      </a:pPr>
                      <a:r>
                        <a:rPr lang="en-US" sz="1800">
                          <a:effectLst/>
                        </a:rPr>
                        <a:t>190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3914" marR="53914" marT="0" marB="0"/>
                </a:tc>
                <a:extLst>
                  <a:ext uri="{0D108BD9-81ED-4DB2-BD59-A6C34878D82A}">
                    <a16:rowId xmlns:a16="http://schemas.microsoft.com/office/drawing/2014/main" val="3726377097"/>
                  </a:ext>
                </a:extLst>
              </a:tr>
              <a:tr h="225136">
                <a:tc>
                  <a:txBody>
                    <a:bodyPr/>
                    <a:lstStyle/>
                    <a:p>
                      <a:pPr marL="107950">
                        <a:lnSpc>
                          <a:spcPct val="115000"/>
                        </a:lnSpc>
                        <a:buNone/>
                      </a:pPr>
                      <a:r>
                        <a:rPr lang="ru-RU" sz="1800">
                          <a:effectLst/>
                        </a:rPr>
                        <a:t>Среднее время отклика (</a:t>
                      </a:r>
                      <a:r>
                        <a:rPr lang="en-US" sz="1800">
                          <a:effectLst/>
                        </a:rPr>
                        <a:t>Average</a:t>
                      </a:r>
                      <a:r>
                        <a:rPr lang="ru-RU" sz="1800">
                          <a:effectLst/>
                        </a:rPr>
                        <a:t>), мс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3914" marR="53914" marT="0" marB="0"/>
                </a:tc>
                <a:tc>
                  <a:txBody>
                    <a:bodyPr/>
                    <a:lstStyle/>
                    <a:p>
                      <a:pPr marL="107950">
                        <a:lnSpc>
                          <a:spcPct val="115000"/>
                        </a:lnSpc>
                        <a:buNone/>
                      </a:pPr>
                      <a:r>
                        <a:rPr lang="en-US" sz="1800">
                          <a:effectLst/>
                        </a:rPr>
                        <a:t>2 889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3914" marR="53914" marT="0" marB="0"/>
                </a:tc>
                <a:extLst>
                  <a:ext uri="{0D108BD9-81ED-4DB2-BD59-A6C34878D82A}">
                    <a16:rowId xmlns:a16="http://schemas.microsoft.com/office/drawing/2014/main" val="2178520898"/>
                  </a:ext>
                </a:extLst>
              </a:tr>
              <a:tr h="225136">
                <a:tc>
                  <a:txBody>
                    <a:bodyPr/>
                    <a:lstStyle/>
                    <a:p>
                      <a:pPr marL="107950">
                        <a:lnSpc>
                          <a:spcPct val="115000"/>
                        </a:lnSpc>
                        <a:buNone/>
                      </a:pPr>
                      <a:r>
                        <a:rPr lang="en-US" sz="1800">
                          <a:effectLst/>
                        </a:rPr>
                        <a:t>Медиана (Median), мс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3914" marR="53914" marT="0" marB="0"/>
                </a:tc>
                <a:tc>
                  <a:txBody>
                    <a:bodyPr/>
                    <a:lstStyle/>
                    <a:p>
                      <a:pPr marL="107950">
                        <a:lnSpc>
                          <a:spcPct val="115000"/>
                        </a:lnSpc>
                        <a:buNone/>
                      </a:pPr>
                      <a:r>
                        <a:rPr lang="en-US" sz="1800">
                          <a:effectLst/>
                        </a:rPr>
                        <a:t>2 853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3914" marR="53914" marT="0" marB="0"/>
                </a:tc>
                <a:extLst>
                  <a:ext uri="{0D108BD9-81ED-4DB2-BD59-A6C34878D82A}">
                    <a16:rowId xmlns:a16="http://schemas.microsoft.com/office/drawing/2014/main" val="3108703512"/>
                  </a:ext>
                </a:extLst>
              </a:tr>
              <a:tr h="225136">
                <a:tc>
                  <a:txBody>
                    <a:bodyPr/>
                    <a:lstStyle/>
                    <a:p>
                      <a:pPr marL="107950">
                        <a:lnSpc>
                          <a:spcPct val="115000"/>
                        </a:lnSpc>
                        <a:buNone/>
                      </a:pPr>
                      <a:r>
                        <a:rPr lang="en-US" sz="1800">
                          <a:effectLst/>
                        </a:rPr>
                        <a:t>90-й перцентиль (90% Line), мс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3914" marR="53914" marT="0" marB="0"/>
                </a:tc>
                <a:tc>
                  <a:txBody>
                    <a:bodyPr/>
                    <a:lstStyle/>
                    <a:p>
                      <a:pPr marL="107950">
                        <a:lnSpc>
                          <a:spcPct val="115000"/>
                        </a:lnSpc>
                        <a:buNone/>
                      </a:pPr>
                      <a:r>
                        <a:rPr lang="en-US" sz="1800">
                          <a:effectLst/>
                        </a:rPr>
                        <a:t>3 477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3914" marR="53914" marT="0" marB="0"/>
                </a:tc>
                <a:extLst>
                  <a:ext uri="{0D108BD9-81ED-4DB2-BD59-A6C34878D82A}">
                    <a16:rowId xmlns:a16="http://schemas.microsoft.com/office/drawing/2014/main" val="1370465919"/>
                  </a:ext>
                </a:extLst>
              </a:tr>
              <a:tr h="225136">
                <a:tc>
                  <a:txBody>
                    <a:bodyPr/>
                    <a:lstStyle/>
                    <a:p>
                      <a:pPr marL="107950">
                        <a:lnSpc>
                          <a:spcPct val="115000"/>
                        </a:lnSpc>
                        <a:buNone/>
                      </a:pPr>
                      <a:r>
                        <a:rPr lang="en-US" sz="1800">
                          <a:effectLst/>
                        </a:rPr>
                        <a:t>95-й перцентиль (95% Line), мс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3914" marR="53914" marT="0" marB="0"/>
                </a:tc>
                <a:tc>
                  <a:txBody>
                    <a:bodyPr/>
                    <a:lstStyle/>
                    <a:p>
                      <a:pPr marL="107950">
                        <a:lnSpc>
                          <a:spcPct val="115000"/>
                        </a:lnSpc>
                        <a:buNone/>
                      </a:pPr>
                      <a:r>
                        <a:rPr lang="en-US" sz="1800">
                          <a:effectLst/>
                        </a:rPr>
                        <a:t>3 652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3914" marR="53914" marT="0" marB="0"/>
                </a:tc>
                <a:extLst>
                  <a:ext uri="{0D108BD9-81ED-4DB2-BD59-A6C34878D82A}">
                    <a16:rowId xmlns:a16="http://schemas.microsoft.com/office/drawing/2014/main" val="2669541285"/>
                  </a:ext>
                </a:extLst>
              </a:tr>
              <a:tr h="225136">
                <a:tc>
                  <a:txBody>
                    <a:bodyPr/>
                    <a:lstStyle/>
                    <a:p>
                      <a:pPr marL="107950">
                        <a:lnSpc>
                          <a:spcPct val="115000"/>
                        </a:lnSpc>
                        <a:buNone/>
                      </a:pPr>
                      <a:r>
                        <a:rPr lang="en-US" sz="1800">
                          <a:effectLst/>
                        </a:rPr>
                        <a:t>99-й перцентиль (99% Line), мс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3914" marR="53914" marT="0" marB="0"/>
                </a:tc>
                <a:tc>
                  <a:txBody>
                    <a:bodyPr/>
                    <a:lstStyle/>
                    <a:p>
                      <a:pPr marL="107950">
                        <a:lnSpc>
                          <a:spcPct val="115000"/>
                        </a:lnSpc>
                        <a:buNone/>
                      </a:pPr>
                      <a:r>
                        <a:rPr lang="en-US" sz="1800">
                          <a:effectLst/>
                        </a:rPr>
                        <a:t>3 759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3914" marR="53914" marT="0" marB="0"/>
                </a:tc>
                <a:extLst>
                  <a:ext uri="{0D108BD9-81ED-4DB2-BD59-A6C34878D82A}">
                    <a16:rowId xmlns:a16="http://schemas.microsoft.com/office/drawing/2014/main" val="2130241131"/>
                  </a:ext>
                </a:extLst>
              </a:tr>
              <a:tr h="225136">
                <a:tc>
                  <a:txBody>
                    <a:bodyPr/>
                    <a:lstStyle/>
                    <a:p>
                      <a:pPr marL="107950">
                        <a:lnSpc>
                          <a:spcPct val="115000"/>
                        </a:lnSpc>
                        <a:buNone/>
                      </a:pPr>
                      <a:r>
                        <a:rPr lang="en-US" sz="1800">
                          <a:effectLst/>
                        </a:rPr>
                        <a:t>Минимальное время, мс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3914" marR="53914" marT="0" marB="0"/>
                </a:tc>
                <a:tc>
                  <a:txBody>
                    <a:bodyPr/>
                    <a:lstStyle/>
                    <a:p>
                      <a:pPr marL="107950">
                        <a:lnSpc>
                          <a:spcPct val="115000"/>
                        </a:lnSpc>
                        <a:buNone/>
                      </a:pPr>
                      <a:r>
                        <a:rPr lang="en-US" sz="1800">
                          <a:effectLst/>
                        </a:rPr>
                        <a:t>443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3914" marR="53914" marT="0" marB="0"/>
                </a:tc>
                <a:extLst>
                  <a:ext uri="{0D108BD9-81ED-4DB2-BD59-A6C34878D82A}">
                    <a16:rowId xmlns:a16="http://schemas.microsoft.com/office/drawing/2014/main" val="1140695519"/>
                  </a:ext>
                </a:extLst>
              </a:tr>
              <a:tr h="225136">
                <a:tc>
                  <a:txBody>
                    <a:bodyPr/>
                    <a:lstStyle/>
                    <a:p>
                      <a:pPr marL="107950">
                        <a:lnSpc>
                          <a:spcPct val="115000"/>
                        </a:lnSpc>
                        <a:buNone/>
                      </a:pPr>
                      <a:r>
                        <a:rPr lang="en-US" sz="1800">
                          <a:effectLst/>
                        </a:rPr>
                        <a:t>Максимальное время, мс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3914" marR="53914" marT="0" marB="0"/>
                </a:tc>
                <a:tc>
                  <a:txBody>
                    <a:bodyPr/>
                    <a:lstStyle/>
                    <a:p>
                      <a:pPr marL="107950">
                        <a:lnSpc>
                          <a:spcPct val="115000"/>
                        </a:lnSpc>
                        <a:buNone/>
                      </a:pPr>
                      <a:r>
                        <a:rPr lang="en-US" sz="1800">
                          <a:effectLst/>
                        </a:rPr>
                        <a:t>3861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3914" marR="53914" marT="0" marB="0"/>
                </a:tc>
                <a:extLst>
                  <a:ext uri="{0D108BD9-81ED-4DB2-BD59-A6C34878D82A}">
                    <a16:rowId xmlns:a16="http://schemas.microsoft.com/office/drawing/2014/main" val="2402843271"/>
                  </a:ext>
                </a:extLst>
              </a:tr>
              <a:tr h="225136">
                <a:tc>
                  <a:txBody>
                    <a:bodyPr/>
                    <a:lstStyle/>
                    <a:p>
                      <a:pPr marL="107950">
                        <a:lnSpc>
                          <a:spcPct val="115000"/>
                        </a:lnSpc>
                        <a:buNone/>
                      </a:pPr>
                      <a:r>
                        <a:rPr lang="en-US" sz="1800">
                          <a:effectLst/>
                        </a:rPr>
                        <a:t>Процент ошибок (Error %)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3914" marR="53914" marT="0" marB="0"/>
                </a:tc>
                <a:tc>
                  <a:txBody>
                    <a:bodyPr/>
                    <a:lstStyle/>
                    <a:p>
                      <a:pPr marL="107950">
                        <a:lnSpc>
                          <a:spcPct val="115000"/>
                        </a:lnSpc>
                        <a:buNone/>
                      </a:pPr>
                      <a:r>
                        <a:rPr lang="en-US" sz="1800">
                          <a:effectLst/>
                        </a:rPr>
                        <a:t>4,74%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3914" marR="53914" marT="0" marB="0"/>
                </a:tc>
                <a:extLst>
                  <a:ext uri="{0D108BD9-81ED-4DB2-BD59-A6C34878D82A}">
                    <a16:rowId xmlns:a16="http://schemas.microsoft.com/office/drawing/2014/main" val="3886770304"/>
                  </a:ext>
                </a:extLst>
              </a:tr>
              <a:tr h="225136">
                <a:tc>
                  <a:txBody>
                    <a:bodyPr/>
                    <a:lstStyle/>
                    <a:p>
                      <a:pPr marL="107950">
                        <a:lnSpc>
                          <a:spcPct val="115000"/>
                        </a:lnSpc>
                        <a:buNone/>
                      </a:pPr>
                      <a:r>
                        <a:rPr lang="ru-RU" sz="1800">
                          <a:effectLst/>
                        </a:rPr>
                        <a:t>Пропускная способность (</a:t>
                      </a:r>
                      <a:r>
                        <a:rPr lang="en-US" sz="1800">
                          <a:effectLst/>
                        </a:rPr>
                        <a:t>Throughput</a:t>
                      </a:r>
                      <a:r>
                        <a:rPr lang="ru-RU" sz="1800">
                          <a:effectLst/>
                        </a:rPr>
                        <a:t>), запросов/с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3914" marR="53914" marT="0" marB="0"/>
                </a:tc>
                <a:tc>
                  <a:txBody>
                    <a:bodyPr/>
                    <a:lstStyle/>
                    <a:p>
                      <a:pPr marL="107950">
                        <a:lnSpc>
                          <a:spcPct val="115000"/>
                        </a:lnSpc>
                        <a:buNone/>
                      </a:pPr>
                      <a:r>
                        <a:rPr lang="en-US" sz="1800" dirty="0">
                          <a:effectLst/>
                        </a:rPr>
                        <a:t>3.9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3914" marR="53914" marT="0" marB="0"/>
                </a:tc>
                <a:extLst>
                  <a:ext uri="{0D108BD9-81ED-4DB2-BD59-A6C34878D82A}">
                    <a16:rowId xmlns:a16="http://schemas.microsoft.com/office/drawing/2014/main" val="2405892098"/>
                  </a:ext>
                </a:extLst>
              </a:tr>
            </a:tbl>
          </a:graphicData>
        </a:graphic>
      </p:graphicFrame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5AF4B01-0EAC-CEA7-CE54-6D056977C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73314-C3AC-487C-8E31-FDBE340A6F4C}" type="slidenum">
              <a:rPr lang="ru-RU" smtClean="0"/>
              <a:t>15</a:t>
            </a:fld>
            <a:endParaRPr lang="ru-RU"/>
          </a:p>
        </p:txBody>
      </p:sp>
      <p:pic>
        <p:nvPicPr>
          <p:cNvPr id="12" name="Объект 11">
            <a:extLst>
              <a:ext uri="{FF2B5EF4-FFF2-40B4-BE49-F238E27FC236}">
                <a16:creationId xmlns:a16="http://schemas.microsoft.com/office/drawing/2014/main" id="{B5B9EE54-414C-89EE-AF7D-C16F7FDA7C5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97280" y="1841249"/>
            <a:ext cx="4017411" cy="4171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6965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AA99C4-656D-738D-FAC3-1E2981C9D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Информационный менеджмент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F0FF571-4BDD-D213-0290-F84918A0A4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88720" y="2201438"/>
            <a:ext cx="4937760" cy="3192431"/>
          </a:xfrm>
        </p:spPr>
        <p:txBody>
          <a:bodyPr/>
          <a:lstStyle/>
          <a:p>
            <a:r>
              <a:rPr lang="ru-RU" dirty="0"/>
              <a:t>Примерная стоимость разработки: 140 тыс. руб.</a:t>
            </a:r>
          </a:p>
          <a:p>
            <a:r>
              <a:rPr lang="ru-RU" dirty="0"/>
              <a:t>Примерная стоимость содержания системы с модулем рекомендаций (за 6 месяцев): 60 тыс. руб.</a:t>
            </a:r>
          </a:p>
          <a:p>
            <a:r>
              <a:rPr lang="ru-RU" dirty="0"/>
              <a:t>Время разработки: 6 месяцев</a:t>
            </a:r>
          </a:p>
          <a:p>
            <a:r>
              <a:rPr lang="ru-RU" dirty="0"/>
              <a:t>Организационные документы: устав, ИСР, календарный план, матрица RACI, реестр рисков, план изменений</a:t>
            </a:r>
          </a:p>
          <a:p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2C28450-9C7B-EE7E-597D-24481B1EBC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73314-C3AC-487C-8E31-FDBE340A6F4C}" type="slidenum">
              <a:rPr lang="ru-RU" smtClean="0"/>
              <a:pPr/>
              <a:t>16</a:t>
            </a:fld>
            <a:endParaRPr lang="ru-RU" dirty="0"/>
          </a:p>
        </p:txBody>
      </p:sp>
      <p:graphicFrame>
        <p:nvGraphicFramePr>
          <p:cNvPr id="8" name="Объект 7">
            <a:extLst>
              <a:ext uri="{FF2B5EF4-FFF2-40B4-BE49-F238E27FC236}">
                <a16:creationId xmlns:a16="http://schemas.microsoft.com/office/drawing/2014/main" id="{1CD45BCA-FD8E-03C7-3DE3-77E38F5BB03A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53752714"/>
              </p:ext>
            </p:extLst>
          </p:nvPr>
        </p:nvGraphicFramePr>
        <p:xfrm>
          <a:off x="6885211" y="1799973"/>
          <a:ext cx="4270469" cy="12548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12" name="Объект 7">
            <a:extLst>
              <a:ext uri="{FF2B5EF4-FFF2-40B4-BE49-F238E27FC236}">
                <a16:creationId xmlns:a16="http://schemas.microsoft.com/office/drawing/2014/main" id="{6C24B255-2A45-9341-DCFD-9BAD4ED4699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41377121"/>
              </p:ext>
            </p:extLst>
          </p:nvPr>
        </p:nvGraphicFramePr>
        <p:xfrm>
          <a:off x="6885208" y="4360907"/>
          <a:ext cx="4270469" cy="12548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aphicFrame>
        <p:nvGraphicFramePr>
          <p:cNvPr id="13" name="Объект 7">
            <a:extLst>
              <a:ext uri="{FF2B5EF4-FFF2-40B4-BE49-F238E27FC236}">
                <a16:creationId xmlns:a16="http://schemas.microsoft.com/office/drawing/2014/main" id="{F4B443A0-B596-17B5-7688-E40DD6BF78B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83857467"/>
              </p:ext>
            </p:extLst>
          </p:nvPr>
        </p:nvGraphicFramePr>
        <p:xfrm>
          <a:off x="6885207" y="3043431"/>
          <a:ext cx="4270469" cy="12548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9150A9C4-BD35-75CD-2681-987DB0104716}"/>
              </a:ext>
            </a:extLst>
          </p:cNvPr>
          <p:cNvSpPr txBox="1"/>
          <p:nvPr/>
        </p:nvSpPr>
        <p:spPr>
          <a:xfrm>
            <a:off x="6885209" y="5657286"/>
            <a:ext cx="42704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" marR="0" lvl="0" indent="-91440" algn="ctr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92278F"/>
              </a:buClr>
              <a:buSzPct val="100000"/>
              <a:buFont typeface="Calibri" panose="020F0502020204030204" pitchFamily="34" charset="0"/>
              <a:buChar char=" 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Риски и их решения</a:t>
            </a:r>
          </a:p>
        </p:txBody>
      </p:sp>
    </p:spTree>
    <p:extLst>
      <p:ext uri="{BB962C8B-B14F-4D97-AF65-F5344CB8AC3E}">
        <p14:creationId xmlns:p14="http://schemas.microsoft.com/office/powerpoint/2010/main" val="851192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6F2C38-2215-CCAC-CDE1-322030D06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Заключение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51E84F8-70E8-4394-736D-5E1E504818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4091" y="1863664"/>
            <a:ext cx="6575204" cy="4402666"/>
          </a:xfrm>
        </p:spPr>
        <p:txBody>
          <a:bodyPr>
            <a:noAutofit/>
          </a:bodyPr>
          <a:lstStyle/>
          <a:p>
            <a:pPr>
              <a:spcBef>
                <a:spcPts val="600"/>
              </a:spcBef>
            </a:pPr>
            <a:r>
              <a:rPr lang="ru-RU" sz="1600" dirty="0"/>
              <a:t>Практическая ценность: готовый продукт для арт-пространств и образовательных учреждений. Гибридный подход и </a:t>
            </a:r>
            <a:r>
              <a:rPr lang="ru-RU" sz="1600" dirty="0" err="1"/>
              <a:t>OpenCLIP</a:t>
            </a:r>
            <a:r>
              <a:rPr lang="ru-RU" sz="1600" dirty="0"/>
              <a:t> применимы в смежных проектах.</a:t>
            </a:r>
            <a:endParaRPr lang="en-US" sz="1600" dirty="0"/>
          </a:p>
          <a:p>
            <a:pPr>
              <a:spcBef>
                <a:spcPts val="600"/>
              </a:spcBef>
            </a:pPr>
            <a:r>
              <a:rPr lang="ru-RU" sz="1600" dirty="0"/>
              <a:t>Направления развития: переход к постоянно работающему Python-серверу, кэширование, расширение меток для </a:t>
            </a:r>
            <a:r>
              <a:rPr lang="ru-RU" sz="1600" dirty="0" err="1"/>
              <a:t>OpenCLIP</a:t>
            </a:r>
            <a:r>
              <a:rPr lang="ru-RU" sz="1600" dirty="0"/>
              <a:t>, улучшение метрик, внедрение A/B-тестирования.</a:t>
            </a:r>
          </a:p>
          <a:p>
            <a:pPr>
              <a:spcBef>
                <a:spcPts val="600"/>
              </a:spcBef>
            </a:pPr>
            <a:r>
              <a:rPr lang="ru-RU" sz="1600" dirty="0"/>
              <a:t>Система работоспособна и имеет потенциал для дальнейшего развития.</a:t>
            </a:r>
          </a:p>
          <a:p>
            <a:pPr>
              <a:spcBef>
                <a:spcPts val="600"/>
              </a:spcBef>
            </a:pPr>
            <a:r>
              <a:rPr lang="ru-RU" sz="1600" dirty="0"/>
              <a:t>Статьи: 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ru-RU" sz="1600" dirty="0"/>
              <a:t>Шутова, Т. Е. Разработка рекомендательных систем с применением методов машинного обучения на примере информационной системы арт-галереи / Т.Е. Шутова, В.В. Вершинин // Сборник материалов научно-практических конференций </a:t>
            </a:r>
            <a:r>
              <a:rPr lang="ru-RU" sz="1600" dirty="0" err="1"/>
              <a:t>ВлГУ</a:t>
            </a:r>
            <a:r>
              <a:rPr lang="ru-RU" sz="1600" dirty="0"/>
              <a:t>. — 2026. (Принято к публикации)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ru-RU" sz="1600" dirty="0"/>
              <a:t>Шутова, Т. Е. Интеграция модуля машинного обучения на основе коллаборативной и контентной фильтрации в веб-приложение / Т.Е. Шутова, М.И. Озерова // Сборник материалов III Международного форума «ИТ. НАУКА. КРЕАТИВ». — 2026. (Принято к публикации)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B1D601F-B436-4772-EF92-EC19C4B09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73314-C3AC-487C-8E31-FDBE340A6F4C}" type="slidenum">
              <a:rPr lang="ru-RU" smtClean="0"/>
              <a:pPr/>
              <a:t>17</a:t>
            </a:fld>
            <a:endParaRPr lang="ru-RU" sz="2000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E99E426-1A45-B414-B00B-9BA1377952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4977" y="1863664"/>
            <a:ext cx="2960703" cy="4187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2601828"/>
      </p:ext>
    </p:extLst>
  </p:cSld>
  <p:clrMapOvr>
    <a:masterClrMapping/>
  </p:clrMapOvr>
</p:sld>
</file>

<file path=ppt/theme/theme1.xml><?xml version="1.0" encoding="utf-8"?>
<a:theme xmlns:a="http://schemas.openxmlformats.org/drawingml/2006/main" name="Ретро">
  <a:themeElements>
    <a:clrScheme name="Фиолетовый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Ретро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Ретро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163</TotalTime>
  <Words>1140</Words>
  <Application>Microsoft Office PowerPoint</Application>
  <PresentationFormat>Широкоэкранный</PresentationFormat>
  <Paragraphs>183</Paragraphs>
  <Slides>17</Slides>
  <Notes>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2" baseType="lpstr">
      <vt:lpstr>Calibri</vt:lpstr>
      <vt:lpstr>Calibri Light</vt:lpstr>
      <vt:lpstr>Cambria Math</vt:lpstr>
      <vt:lpstr>Times New Roman</vt:lpstr>
      <vt:lpstr>Ретро</vt:lpstr>
      <vt:lpstr>Информационная система арт галереи. Модуль рекомендаций</vt:lpstr>
      <vt:lpstr>Введение</vt:lpstr>
      <vt:lpstr>Цели и задачи</vt:lpstr>
      <vt:lpstr>Сравнительный анализ</vt:lpstr>
      <vt:lpstr>Анализ требований</vt:lpstr>
      <vt:lpstr>Архитектура системы</vt:lpstr>
      <vt:lpstr>Диаграмма развёртывания</vt:lpstr>
      <vt:lpstr>Диаграмма прецедентов</vt:lpstr>
      <vt:lpstr>ER-диаграмма</vt:lpstr>
      <vt:lpstr>Математическая модель персонализированных рекомендаций</vt:lpstr>
      <vt:lpstr>Алгоритм обучения модели</vt:lpstr>
      <vt:lpstr>Реализованные страницы</vt:lpstr>
      <vt:lpstr>Реализованные страницы</vt:lpstr>
      <vt:lpstr>Реализованные страницы</vt:lpstr>
      <vt:lpstr>Тестирование</vt:lpstr>
      <vt:lpstr>Информационный менеджмент</vt:lpstr>
      <vt:lpstr>Заключение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</dc:creator>
  <cp:lastModifiedBy>1</cp:lastModifiedBy>
  <cp:revision>26</cp:revision>
  <dcterms:created xsi:type="dcterms:W3CDTF">2026-05-25T20:58:57Z</dcterms:created>
  <dcterms:modified xsi:type="dcterms:W3CDTF">2026-06-05T18:26:42Z</dcterms:modified>
</cp:coreProperties>
</file>