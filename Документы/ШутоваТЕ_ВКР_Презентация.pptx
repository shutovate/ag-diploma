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7" r:id="rId10"/>
    <p:sldId id="265" r:id="rId11"/>
    <p:sldId id="266" r:id="rId12"/>
    <p:sldId id="268" r:id="rId13"/>
    <p:sldId id="269" r:id="rId14"/>
    <p:sldId id="270" r:id="rId15"/>
    <p:sldId id="271" r:id="rId16"/>
    <p:sldId id="272" r:id="rId17"/>
    <p:sldId id="259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2278F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BBE6E8-6E7E-4D65-BF9A-CBE826D3E8F7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D97ED5A-1339-4C9C-B5F8-FE34BDF5298F}">
      <dgm:prSet phldrT="[Текст]"/>
      <dgm:spPr/>
      <dgm:t>
        <a:bodyPr/>
        <a:lstStyle/>
        <a:p>
          <a:pPr>
            <a:buNone/>
          </a:pPr>
          <a:r>
            <a:rPr lang="ru-RU" b="0" i="0" dirty="0"/>
            <a:t>Мало данных для обучения модели</a:t>
          </a:r>
          <a:endParaRPr lang="ru-RU" dirty="0"/>
        </a:p>
      </dgm:t>
    </dgm:pt>
    <dgm:pt modelId="{9E48A871-5ADD-4363-94C8-DB830A190120}" type="parTrans" cxnId="{43123ED0-740F-490C-A50F-AEA13F7287BA}">
      <dgm:prSet/>
      <dgm:spPr/>
      <dgm:t>
        <a:bodyPr/>
        <a:lstStyle/>
        <a:p>
          <a:endParaRPr lang="ru-RU"/>
        </a:p>
      </dgm:t>
    </dgm:pt>
    <dgm:pt modelId="{04848607-BE24-4B54-81B7-A5F309859D7E}" type="sibTrans" cxnId="{43123ED0-740F-490C-A50F-AEA13F7287BA}">
      <dgm:prSet/>
      <dgm:spPr>
        <a:gradFill flip="none" rotWithShape="0">
          <a:gsLst>
            <a:gs pos="0">
              <a:schemeClr val="accent1">
                <a:lumMod val="60000"/>
                <a:lumOff val="40000"/>
                <a:shade val="30000"/>
                <a:satMod val="115000"/>
              </a:schemeClr>
            </a:gs>
            <a:gs pos="50000">
              <a:schemeClr val="accent1">
                <a:lumMod val="60000"/>
                <a:lumOff val="40000"/>
                <a:shade val="67500"/>
                <a:satMod val="115000"/>
              </a:schemeClr>
            </a:gs>
            <a:gs pos="100000">
              <a:schemeClr val="accent1">
                <a:lumMod val="60000"/>
                <a:lumOff val="40000"/>
                <a:shade val="100000"/>
                <a:satMod val="115000"/>
              </a:schemeClr>
            </a:gs>
          </a:gsLst>
          <a:path path="circle">
            <a:fillToRect t="100000" r="100000"/>
          </a:path>
          <a:tileRect l="-100000" b="-100000"/>
        </a:gradFill>
      </dgm:spPr>
      <dgm:t>
        <a:bodyPr/>
        <a:lstStyle/>
        <a:p>
          <a:endParaRPr lang="ru-RU"/>
        </a:p>
      </dgm:t>
    </dgm:pt>
    <dgm:pt modelId="{A3DE5596-FCF6-4419-851C-C46A4BE9DEE1}">
      <dgm:prSet phldrT="[Текст]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pPr>
            <a:buNone/>
          </a:pPr>
          <a:r>
            <a:rPr lang="ru-RU" b="0" i="0" dirty="0"/>
            <a:t>Синтетические данные, ручное оценивание</a:t>
          </a:r>
          <a:endParaRPr lang="ru-RU" dirty="0"/>
        </a:p>
      </dgm:t>
    </dgm:pt>
    <dgm:pt modelId="{1885E0DB-4BBF-48FA-BD02-E3ABD0C7CE32}" type="parTrans" cxnId="{C46A7489-B2E4-4644-A2ED-12FC004C2795}">
      <dgm:prSet/>
      <dgm:spPr/>
      <dgm:t>
        <a:bodyPr/>
        <a:lstStyle/>
        <a:p>
          <a:endParaRPr lang="ru-RU"/>
        </a:p>
      </dgm:t>
    </dgm:pt>
    <dgm:pt modelId="{ED3E3BDB-F17D-43FA-A309-F6D44123545C}" type="sibTrans" cxnId="{C46A7489-B2E4-4644-A2ED-12FC004C2795}">
      <dgm:prSet/>
      <dgm:spPr/>
      <dgm:t>
        <a:bodyPr/>
        <a:lstStyle/>
        <a:p>
          <a:endParaRPr lang="ru-RU"/>
        </a:p>
      </dgm:t>
    </dgm:pt>
    <dgm:pt modelId="{70E55983-5224-4F6B-AA1C-AA6BD0B29B75}" type="pres">
      <dgm:prSet presAssocID="{7EBBE6E8-6E7E-4D65-BF9A-CBE826D3E8F7}" presName="Name0" presStyleCnt="0">
        <dgm:presLayoutVars>
          <dgm:dir/>
          <dgm:resizeHandles val="exact"/>
        </dgm:presLayoutVars>
      </dgm:prSet>
      <dgm:spPr/>
    </dgm:pt>
    <dgm:pt modelId="{6500D5A7-59F4-41BA-9665-D68A8DD51CF3}" type="pres">
      <dgm:prSet presAssocID="{2D97ED5A-1339-4C9C-B5F8-FE34BDF5298F}" presName="node" presStyleLbl="node1" presStyleIdx="0" presStyleCnt="2">
        <dgm:presLayoutVars>
          <dgm:bulletEnabled val="1"/>
        </dgm:presLayoutVars>
      </dgm:prSet>
      <dgm:spPr/>
    </dgm:pt>
    <dgm:pt modelId="{9B23216D-6693-4BFC-9CF6-AD539BF88CA5}" type="pres">
      <dgm:prSet presAssocID="{04848607-BE24-4B54-81B7-A5F309859D7E}" presName="sibTrans" presStyleLbl="sibTrans2D1" presStyleIdx="0" presStyleCnt="1" custScaleX="153721"/>
      <dgm:spPr>
        <a:prstGeom prst="rightArrow">
          <a:avLst/>
        </a:prstGeom>
      </dgm:spPr>
    </dgm:pt>
    <dgm:pt modelId="{B43A671B-7E61-48F4-8A97-5FB07AF36519}" type="pres">
      <dgm:prSet presAssocID="{04848607-BE24-4B54-81B7-A5F309859D7E}" presName="connectorText" presStyleLbl="sibTrans2D1" presStyleIdx="0" presStyleCnt="1"/>
      <dgm:spPr/>
    </dgm:pt>
    <dgm:pt modelId="{831935E8-20A3-4341-B34F-EBEC45D2FF16}" type="pres">
      <dgm:prSet presAssocID="{A3DE5596-FCF6-4419-851C-C46A4BE9DEE1}" presName="node" presStyleLbl="node1" presStyleIdx="1" presStyleCnt="2">
        <dgm:presLayoutVars>
          <dgm:bulletEnabled val="1"/>
        </dgm:presLayoutVars>
      </dgm:prSet>
      <dgm:spPr/>
    </dgm:pt>
  </dgm:ptLst>
  <dgm:cxnLst>
    <dgm:cxn modelId="{A9AA1277-1B87-4A58-BE90-101DAA9AFB7F}" type="presOf" srcId="{04848607-BE24-4B54-81B7-A5F309859D7E}" destId="{9B23216D-6693-4BFC-9CF6-AD539BF88CA5}" srcOrd="0" destOrd="0" presId="urn:microsoft.com/office/officeart/2005/8/layout/process1"/>
    <dgm:cxn modelId="{058DB77E-EFE4-4212-A5EF-52E01519C1FF}" type="presOf" srcId="{7EBBE6E8-6E7E-4D65-BF9A-CBE826D3E8F7}" destId="{70E55983-5224-4F6B-AA1C-AA6BD0B29B75}" srcOrd="0" destOrd="0" presId="urn:microsoft.com/office/officeart/2005/8/layout/process1"/>
    <dgm:cxn modelId="{D4952787-C28A-465F-9A11-997F104F7CC9}" type="presOf" srcId="{2D97ED5A-1339-4C9C-B5F8-FE34BDF5298F}" destId="{6500D5A7-59F4-41BA-9665-D68A8DD51CF3}" srcOrd="0" destOrd="0" presId="urn:microsoft.com/office/officeart/2005/8/layout/process1"/>
    <dgm:cxn modelId="{C46A7489-B2E4-4644-A2ED-12FC004C2795}" srcId="{7EBBE6E8-6E7E-4D65-BF9A-CBE826D3E8F7}" destId="{A3DE5596-FCF6-4419-851C-C46A4BE9DEE1}" srcOrd="1" destOrd="0" parTransId="{1885E0DB-4BBF-48FA-BD02-E3ABD0C7CE32}" sibTransId="{ED3E3BDB-F17D-43FA-A309-F6D44123545C}"/>
    <dgm:cxn modelId="{E17E479A-463D-46D3-9DE3-E9BA71AA31F1}" type="presOf" srcId="{A3DE5596-FCF6-4419-851C-C46A4BE9DEE1}" destId="{831935E8-20A3-4341-B34F-EBEC45D2FF16}" srcOrd="0" destOrd="0" presId="urn:microsoft.com/office/officeart/2005/8/layout/process1"/>
    <dgm:cxn modelId="{43123ED0-740F-490C-A50F-AEA13F7287BA}" srcId="{7EBBE6E8-6E7E-4D65-BF9A-CBE826D3E8F7}" destId="{2D97ED5A-1339-4C9C-B5F8-FE34BDF5298F}" srcOrd="0" destOrd="0" parTransId="{9E48A871-5ADD-4363-94C8-DB830A190120}" sibTransId="{04848607-BE24-4B54-81B7-A5F309859D7E}"/>
    <dgm:cxn modelId="{F0FDE2F3-619F-468F-9B81-55ABCA676C0C}" type="presOf" srcId="{04848607-BE24-4B54-81B7-A5F309859D7E}" destId="{B43A671B-7E61-48F4-8A97-5FB07AF36519}" srcOrd="1" destOrd="0" presId="urn:microsoft.com/office/officeart/2005/8/layout/process1"/>
    <dgm:cxn modelId="{580A4218-D3F8-4EFB-A4E3-B124C99179C1}" type="presParOf" srcId="{70E55983-5224-4F6B-AA1C-AA6BD0B29B75}" destId="{6500D5A7-59F4-41BA-9665-D68A8DD51CF3}" srcOrd="0" destOrd="0" presId="urn:microsoft.com/office/officeart/2005/8/layout/process1"/>
    <dgm:cxn modelId="{5A8A3BF5-786E-4124-959B-BA84DDEB66A2}" type="presParOf" srcId="{70E55983-5224-4F6B-AA1C-AA6BD0B29B75}" destId="{9B23216D-6693-4BFC-9CF6-AD539BF88CA5}" srcOrd="1" destOrd="0" presId="urn:microsoft.com/office/officeart/2005/8/layout/process1"/>
    <dgm:cxn modelId="{E44B28F8-A13E-4916-A909-1A39E505EF78}" type="presParOf" srcId="{9B23216D-6693-4BFC-9CF6-AD539BF88CA5}" destId="{B43A671B-7E61-48F4-8A97-5FB07AF36519}" srcOrd="0" destOrd="0" presId="urn:microsoft.com/office/officeart/2005/8/layout/process1"/>
    <dgm:cxn modelId="{A78F81A6-DF88-451F-AE7B-FA6B738B08DB}" type="presParOf" srcId="{70E55983-5224-4F6B-AA1C-AA6BD0B29B75}" destId="{831935E8-20A3-4341-B34F-EBEC45D2FF16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EBBE6E8-6E7E-4D65-BF9A-CBE826D3E8F7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D97ED5A-1339-4C9C-B5F8-FE34BDF5298F}">
      <dgm:prSet phldrT="[Текст]"/>
      <dgm:spPr/>
      <dgm:t>
        <a:bodyPr/>
        <a:lstStyle/>
        <a:p>
          <a:pPr>
            <a:buNone/>
          </a:pPr>
          <a:r>
            <a:rPr lang="ru-RU" b="0" i="0" dirty="0"/>
            <a:t>Низкая точность модели</a:t>
          </a:r>
          <a:endParaRPr lang="ru-RU" dirty="0"/>
        </a:p>
      </dgm:t>
    </dgm:pt>
    <dgm:pt modelId="{9E48A871-5ADD-4363-94C8-DB830A190120}" type="parTrans" cxnId="{43123ED0-740F-490C-A50F-AEA13F7287BA}">
      <dgm:prSet/>
      <dgm:spPr/>
      <dgm:t>
        <a:bodyPr/>
        <a:lstStyle/>
        <a:p>
          <a:endParaRPr lang="ru-RU"/>
        </a:p>
      </dgm:t>
    </dgm:pt>
    <dgm:pt modelId="{04848607-BE24-4B54-81B7-A5F309859D7E}" type="sibTrans" cxnId="{43123ED0-740F-490C-A50F-AEA13F7287BA}">
      <dgm:prSet/>
      <dgm:spPr>
        <a:gradFill flip="none" rotWithShape="0">
          <a:gsLst>
            <a:gs pos="0">
              <a:schemeClr val="accent1">
                <a:lumMod val="60000"/>
                <a:lumOff val="40000"/>
                <a:shade val="30000"/>
                <a:satMod val="115000"/>
              </a:schemeClr>
            </a:gs>
            <a:gs pos="50000">
              <a:schemeClr val="accent1">
                <a:lumMod val="60000"/>
                <a:lumOff val="40000"/>
                <a:shade val="67500"/>
                <a:satMod val="115000"/>
              </a:schemeClr>
            </a:gs>
            <a:gs pos="100000">
              <a:schemeClr val="accent1">
                <a:lumMod val="60000"/>
                <a:lumOff val="40000"/>
                <a:shade val="100000"/>
                <a:satMod val="115000"/>
              </a:schemeClr>
            </a:gs>
          </a:gsLst>
          <a:path path="circle">
            <a:fillToRect t="100000" r="100000"/>
          </a:path>
          <a:tileRect l="-100000" b="-100000"/>
        </a:gradFill>
      </dgm:spPr>
      <dgm:t>
        <a:bodyPr/>
        <a:lstStyle/>
        <a:p>
          <a:endParaRPr lang="ru-RU"/>
        </a:p>
      </dgm:t>
    </dgm:pt>
    <dgm:pt modelId="{A3DE5596-FCF6-4419-851C-C46A4BE9DEE1}">
      <dgm:prSet phldrT="[Текст]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pPr>
            <a:buNone/>
          </a:pPr>
          <a:r>
            <a:rPr lang="ru-RU" b="0" i="0" dirty="0"/>
            <a:t>Анализ ошибок, добавление признаков, иной вариант (популярное + коллаборативная фильтрация)</a:t>
          </a:r>
          <a:endParaRPr lang="ru-RU" dirty="0"/>
        </a:p>
      </dgm:t>
    </dgm:pt>
    <dgm:pt modelId="{1885E0DB-4BBF-48FA-BD02-E3ABD0C7CE32}" type="parTrans" cxnId="{C46A7489-B2E4-4644-A2ED-12FC004C2795}">
      <dgm:prSet/>
      <dgm:spPr/>
      <dgm:t>
        <a:bodyPr/>
        <a:lstStyle/>
        <a:p>
          <a:endParaRPr lang="ru-RU"/>
        </a:p>
      </dgm:t>
    </dgm:pt>
    <dgm:pt modelId="{ED3E3BDB-F17D-43FA-A309-F6D44123545C}" type="sibTrans" cxnId="{C46A7489-B2E4-4644-A2ED-12FC004C2795}">
      <dgm:prSet/>
      <dgm:spPr/>
      <dgm:t>
        <a:bodyPr/>
        <a:lstStyle/>
        <a:p>
          <a:endParaRPr lang="ru-RU"/>
        </a:p>
      </dgm:t>
    </dgm:pt>
    <dgm:pt modelId="{70E55983-5224-4F6B-AA1C-AA6BD0B29B75}" type="pres">
      <dgm:prSet presAssocID="{7EBBE6E8-6E7E-4D65-BF9A-CBE826D3E8F7}" presName="Name0" presStyleCnt="0">
        <dgm:presLayoutVars>
          <dgm:dir/>
          <dgm:resizeHandles val="exact"/>
        </dgm:presLayoutVars>
      </dgm:prSet>
      <dgm:spPr/>
    </dgm:pt>
    <dgm:pt modelId="{6500D5A7-59F4-41BA-9665-D68A8DD51CF3}" type="pres">
      <dgm:prSet presAssocID="{2D97ED5A-1339-4C9C-B5F8-FE34BDF5298F}" presName="node" presStyleLbl="node1" presStyleIdx="0" presStyleCnt="2">
        <dgm:presLayoutVars>
          <dgm:bulletEnabled val="1"/>
        </dgm:presLayoutVars>
      </dgm:prSet>
      <dgm:spPr/>
    </dgm:pt>
    <dgm:pt modelId="{9B23216D-6693-4BFC-9CF6-AD539BF88CA5}" type="pres">
      <dgm:prSet presAssocID="{04848607-BE24-4B54-81B7-A5F309859D7E}" presName="sibTrans" presStyleLbl="sibTrans2D1" presStyleIdx="0" presStyleCnt="1" custScaleX="153721"/>
      <dgm:spPr>
        <a:prstGeom prst="rightArrow">
          <a:avLst/>
        </a:prstGeom>
      </dgm:spPr>
    </dgm:pt>
    <dgm:pt modelId="{B43A671B-7E61-48F4-8A97-5FB07AF36519}" type="pres">
      <dgm:prSet presAssocID="{04848607-BE24-4B54-81B7-A5F309859D7E}" presName="connectorText" presStyleLbl="sibTrans2D1" presStyleIdx="0" presStyleCnt="1"/>
      <dgm:spPr/>
    </dgm:pt>
    <dgm:pt modelId="{831935E8-20A3-4341-B34F-EBEC45D2FF16}" type="pres">
      <dgm:prSet presAssocID="{A3DE5596-FCF6-4419-851C-C46A4BE9DEE1}" presName="node" presStyleLbl="node1" presStyleIdx="1" presStyleCnt="2" custScaleX="206446">
        <dgm:presLayoutVars>
          <dgm:bulletEnabled val="1"/>
        </dgm:presLayoutVars>
      </dgm:prSet>
      <dgm:spPr/>
    </dgm:pt>
  </dgm:ptLst>
  <dgm:cxnLst>
    <dgm:cxn modelId="{A9AA1277-1B87-4A58-BE90-101DAA9AFB7F}" type="presOf" srcId="{04848607-BE24-4B54-81B7-A5F309859D7E}" destId="{9B23216D-6693-4BFC-9CF6-AD539BF88CA5}" srcOrd="0" destOrd="0" presId="urn:microsoft.com/office/officeart/2005/8/layout/process1"/>
    <dgm:cxn modelId="{058DB77E-EFE4-4212-A5EF-52E01519C1FF}" type="presOf" srcId="{7EBBE6E8-6E7E-4D65-BF9A-CBE826D3E8F7}" destId="{70E55983-5224-4F6B-AA1C-AA6BD0B29B75}" srcOrd="0" destOrd="0" presId="urn:microsoft.com/office/officeart/2005/8/layout/process1"/>
    <dgm:cxn modelId="{D4952787-C28A-465F-9A11-997F104F7CC9}" type="presOf" srcId="{2D97ED5A-1339-4C9C-B5F8-FE34BDF5298F}" destId="{6500D5A7-59F4-41BA-9665-D68A8DD51CF3}" srcOrd="0" destOrd="0" presId="urn:microsoft.com/office/officeart/2005/8/layout/process1"/>
    <dgm:cxn modelId="{C46A7489-B2E4-4644-A2ED-12FC004C2795}" srcId="{7EBBE6E8-6E7E-4D65-BF9A-CBE826D3E8F7}" destId="{A3DE5596-FCF6-4419-851C-C46A4BE9DEE1}" srcOrd="1" destOrd="0" parTransId="{1885E0DB-4BBF-48FA-BD02-E3ABD0C7CE32}" sibTransId="{ED3E3BDB-F17D-43FA-A309-F6D44123545C}"/>
    <dgm:cxn modelId="{E17E479A-463D-46D3-9DE3-E9BA71AA31F1}" type="presOf" srcId="{A3DE5596-FCF6-4419-851C-C46A4BE9DEE1}" destId="{831935E8-20A3-4341-B34F-EBEC45D2FF16}" srcOrd="0" destOrd="0" presId="urn:microsoft.com/office/officeart/2005/8/layout/process1"/>
    <dgm:cxn modelId="{43123ED0-740F-490C-A50F-AEA13F7287BA}" srcId="{7EBBE6E8-6E7E-4D65-BF9A-CBE826D3E8F7}" destId="{2D97ED5A-1339-4C9C-B5F8-FE34BDF5298F}" srcOrd="0" destOrd="0" parTransId="{9E48A871-5ADD-4363-94C8-DB830A190120}" sibTransId="{04848607-BE24-4B54-81B7-A5F309859D7E}"/>
    <dgm:cxn modelId="{F0FDE2F3-619F-468F-9B81-55ABCA676C0C}" type="presOf" srcId="{04848607-BE24-4B54-81B7-A5F309859D7E}" destId="{B43A671B-7E61-48F4-8A97-5FB07AF36519}" srcOrd="1" destOrd="0" presId="urn:microsoft.com/office/officeart/2005/8/layout/process1"/>
    <dgm:cxn modelId="{580A4218-D3F8-4EFB-A4E3-B124C99179C1}" type="presParOf" srcId="{70E55983-5224-4F6B-AA1C-AA6BD0B29B75}" destId="{6500D5A7-59F4-41BA-9665-D68A8DD51CF3}" srcOrd="0" destOrd="0" presId="urn:microsoft.com/office/officeart/2005/8/layout/process1"/>
    <dgm:cxn modelId="{5A8A3BF5-786E-4124-959B-BA84DDEB66A2}" type="presParOf" srcId="{70E55983-5224-4F6B-AA1C-AA6BD0B29B75}" destId="{9B23216D-6693-4BFC-9CF6-AD539BF88CA5}" srcOrd="1" destOrd="0" presId="urn:microsoft.com/office/officeart/2005/8/layout/process1"/>
    <dgm:cxn modelId="{E44B28F8-A13E-4916-A909-1A39E505EF78}" type="presParOf" srcId="{9B23216D-6693-4BFC-9CF6-AD539BF88CA5}" destId="{B43A671B-7E61-48F4-8A97-5FB07AF36519}" srcOrd="0" destOrd="0" presId="urn:microsoft.com/office/officeart/2005/8/layout/process1"/>
    <dgm:cxn modelId="{A78F81A6-DF88-451F-AE7B-FA6B738B08DB}" type="presParOf" srcId="{70E55983-5224-4F6B-AA1C-AA6BD0B29B75}" destId="{831935E8-20A3-4341-B34F-EBEC45D2FF16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EBBE6E8-6E7E-4D65-BF9A-CBE826D3E8F7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D97ED5A-1339-4C9C-B5F8-FE34BDF5298F}">
      <dgm:prSet phldrT="[Текст]"/>
      <dgm:spPr/>
      <dgm:t>
        <a:bodyPr/>
        <a:lstStyle/>
        <a:p>
          <a:pPr>
            <a:buNone/>
          </a:pPr>
          <a:r>
            <a:rPr lang="ru-RU" b="0" i="0" dirty="0"/>
            <a:t>Высокая нагрузка на сервер</a:t>
          </a:r>
          <a:endParaRPr lang="ru-RU" dirty="0"/>
        </a:p>
      </dgm:t>
    </dgm:pt>
    <dgm:pt modelId="{9E48A871-5ADD-4363-94C8-DB830A190120}" type="parTrans" cxnId="{43123ED0-740F-490C-A50F-AEA13F7287BA}">
      <dgm:prSet/>
      <dgm:spPr/>
      <dgm:t>
        <a:bodyPr/>
        <a:lstStyle/>
        <a:p>
          <a:endParaRPr lang="ru-RU"/>
        </a:p>
      </dgm:t>
    </dgm:pt>
    <dgm:pt modelId="{04848607-BE24-4B54-81B7-A5F309859D7E}" type="sibTrans" cxnId="{43123ED0-740F-490C-A50F-AEA13F7287BA}">
      <dgm:prSet/>
      <dgm:spPr>
        <a:gradFill flip="none" rotWithShape="0">
          <a:gsLst>
            <a:gs pos="0">
              <a:schemeClr val="accent1">
                <a:lumMod val="60000"/>
                <a:lumOff val="40000"/>
                <a:shade val="30000"/>
                <a:satMod val="115000"/>
              </a:schemeClr>
            </a:gs>
            <a:gs pos="50000">
              <a:schemeClr val="accent1">
                <a:lumMod val="60000"/>
                <a:lumOff val="40000"/>
                <a:shade val="67500"/>
                <a:satMod val="115000"/>
              </a:schemeClr>
            </a:gs>
            <a:gs pos="100000">
              <a:schemeClr val="accent1">
                <a:lumMod val="60000"/>
                <a:lumOff val="40000"/>
                <a:shade val="100000"/>
                <a:satMod val="115000"/>
              </a:schemeClr>
            </a:gs>
          </a:gsLst>
          <a:path path="circle">
            <a:fillToRect t="100000" r="100000"/>
          </a:path>
          <a:tileRect l="-100000" b="-100000"/>
        </a:gradFill>
      </dgm:spPr>
      <dgm:t>
        <a:bodyPr/>
        <a:lstStyle/>
        <a:p>
          <a:endParaRPr lang="ru-RU"/>
        </a:p>
      </dgm:t>
    </dgm:pt>
    <dgm:pt modelId="{A3DE5596-FCF6-4419-851C-C46A4BE9DEE1}">
      <dgm:prSet phldrT="[Текст]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pPr>
            <a:buNone/>
          </a:pPr>
          <a:r>
            <a:rPr lang="ru-RU" b="0" i="0" dirty="0"/>
            <a:t>Кэширование, асинхронность, при необходимости – более мощный сервер</a:t>
          </a:r>
          <a:endParaRPr lang="ru-RU" dirty="0"/>
        </a:p>
      </dgm:t>
    </dgm:pt>
    <dgm:pt modelId="{1885E0DB-4BBF-48FA-BD02-E3ABD0C7CE32}" type="parTrans" cxnId="{C46A7489-B2E4-4644-A2ED-12FC004C2795}">
      <dgm:prSet/>
      <dgm:spPr/>
      <dgm:t>
        <a:bodyPr/>
        <a:lstStyle/>
        <a:p>
          <a:endParaRPr lang="ru-RU"/>
        </a:p>
      </dgm:t>
    </dgm:pt>
    <dgm:pt modelId="{ED3E3BDB-F17D-43FA-A309-F6D44123545C}" type="sibTrans" cxnId="{C46A7489-B2E4-4644-A2ED-12FC004C2795}">
      <dgm:prSet/>
      <dgm:spPr/>
      <dgm:t>
        <a:bodyPr/>
        <a:lstStyle/>
        <a:p>
          <a:endParaRPr lang="ru-RU"/>
        </a:p>
      </dgm:t>
    </dgm:pt>
    <dgm:pt modelId="{70E55983-5224-4F6B-AA1C-AA6BD0B29B75}" type="pres">
      <dgm:prSet presAssocID="{7EBBE6E8-6E7E-4D65-BF9A-CBE826D3E8F7}" presName="Name0" presStyleCnt="0">
        <dgm:presLayoutVars>
          <dgm:dir/>
          <dgm:resizeHandles val="exact"/>
        </dgm:presLayoutVars>
      </dgm:prSet>
      <dgm:spPr/>
    </dgm:pt>
    <dgm:pt modelId="{6500D5A7-59F4-41BA-9665-D68A8DD51CF3}" type="pres">
      <dgm:prSet presAssocID="{2D97ED5A-1339-4C9C-B5F8-FE34BDF5298F}" presName="node" presStyleLbl="node1" presStyleIdx="0" presStyleCnt="2">
        <dgm:presLayoutVars>
          <dgm:bulletEnabled val="1"/>
        </dgm:presLayoutVars>
      </dgm:prSet>
      <dgm:spPr/>
    </dgm:pt>
    <dgm:pt modelId="{9B23216D-6693-4BFC-9CF6-AD539BF88CA5}" type="pres">
      <dgm:prSet presAssocID="{04848607-BE24-4B54-81B7-A5F309859D7E}" presName="sibTrans" presStyleLbl="sibTrans2D1" presStyleIdx="0" presStyleCnt="1" custScaleX="153721"/>
      <dgm:spPr>
        <a:prstGeom prst="rightArrow">
          <a:avLst/>
        </a:prstGeom>
      </dgm:spPr>
    </dgm:pt>
    <dgm:pt modelId="{B43A671B-7E61-48F4-8A97-5FB07AF36519}" type="pres">
      <dgm:prSet presAssocID="{04848607-BE24-4B54-81B7-A5F309859D7E}" presName="connectorText" presStyleLbl="sibTrans2D1" presStyleIdx="0" presStyleCnt="1"/>
      <dgm:spPr/>
    </dgm:pt>
    <dgm:pt modelId="{831935E8-20A3-4341-B34F-EBEC45D2FF16}" type="pres">
      <dgm:prSet presAssocID="{A3DE5596-FCF6-4419-851C-C46A4BE9DEE1}" presName="node" presStyleLbl="node1" presStyleIdx="1" presStyleCnt="2" custScaleX="149928">
        <dgm:presLayoutVars>
          <dgm:bulletEnabled val="1"/>
        </dgm:presLayoutVars>
      </dgm:prSet>
      <dgm:spPr/>
    </dgm:pt>
  </dgm:ptLst>
  <dgm:cxnLst>
    <dgm:cxn modelId="{A9AA1277-1B87-4A58-BE90-101DAA9AFB7F}" type="presOf" srcId="{04848607-BE24-4B54-81B7-A5F309859D7E}" destId="{9B23216D-6693-4BFC-9CF6-AD539BF88CA5}" srcOrd="0" destOrd="0" presId="urn:microsoft.com/office/officeart/2005/8/layout/process1"/>
    <dgm:cxn modelId="{058DB77E-EFE4-4212-A5EF-52E01519C1FF}" type="presOf" srcId="{7EBBE6E8-6E7E-4D65-BF9A-CBE826D3E8F7}" destId="{70E55983-5224-4F6B-AA1C-AA6BD0B29B75}" srcOrd="0" destOrd="0" presId="urn:microsoft.com/office/officeart/2005/8/layout/process1"/>
    <dgm:cxn modelId="{D4952787-C28A-465F-9A11-997F104F7CC9}" type="presOf" srcId="{2D97ED5A-1339-4C9C-B5F8-FE34BDF5298F}" destId="{6500D5A7-59F4-41BA-9665-D68A8DD51CF3}" srcOrd="0" destOrd="0" presId="urn:microsoft.com/office/officeart/2005/8/layout/process1"/>
    <dgm:cxn modelId="{C46A7489-B2E4-4644-A2ED-12FC004C2795}" srcId="{7EBBE6E8-6E7E-4D65-BF9A-CBE826D3E8F7}" destId="{A3DE5596-FCF6-4419-851C-C46A4BE9DEE1}" srcOrd="1" destOrd="0" parTransId="{1885E0DB-4BBF-48FA-BD02-E3ABD0C7CE32}" sibTransId="{ED3E3BDB-F17D-43FA-A309-F6D44123545C}"/>
    <dgm:cxn modelId="{E17E479A-463D-46D3-9DE3-E9BA71AA31F1}" type="presOf" srcId="{A3DE5596-FCF6-4419-851C-C46A4BE9DEE1}" destId="{831935E8-20A3-4341-B34F-EBEC45D2FF16}" srcOrd="0" destOrd="0" presId="urn:microsoft.com/office/officeart/2005/8/layout/process1"/>
    <dgm:cxn modelId="{43123ED0-740F-490C-A50F-AEA13F7287BA}" srcId="{7EBBE6E8-6E7E-4D65-BF9A-CBE826D3E8F7}" destId="{2D97ED5A-1339-4C9C-B5F8-FE34BDF5298F}" srcOrd="0" destOrd="0" parTransId="{9E48A871-5ADD-4363-94C8-DB830A190120}" sibTransId="{04848607-BE24-4B54-81B7-A5F309859D7E}"/>
    <dgm:cxn modelId="{F0FDE2F3-619F-468F-9B81-55ABCA676C0C}" type="presOf" srcId="{04848607-BE24-4B54-81B7-A5F309859D7E}" destId="{B43A671B-7E61-48F4-8A97-5FB07AF36519}" srcOrd="1" destOrd="0" presId="urn:microsoft.com/office/officeart/2005/8/layout/process1"/>
    <dgm:cxn modelId="{580A4218-D3F8-4EFB-A4E3-B124C99179C1}" type="presParOf" srcId="{70E55983-5224-4F6B-AA1C-AA6BD0B29B75}" destId="{6500D5A7-59F4-41BA-9665-D68A8DD51CF3}" srcOrd="0" destOrd="0" presId="urn:microsoft.com/office/officeart/2005/8/layout/process1"/>
    <dgm:cxn modelId="{5A8A3BF5-786E-4124-959B-BA84DDEB66A2}" type="presParOf" srcId="{70E55983-5224-4F6B-AA1C-AA6BD0B29B75}" destId="{9B23216D-6693-4BFC-9CF6-AD539BF88CA5}" srcOrd="1" destOrd="0" presId="urn:microsoft.com/office/officeart/2005/8/layout/process1"/>
    <dgm:cxn modelId="{E44B28F8-A13E-4916-A909-1A39E505EF78}" type="presParOf" srcId="{9B23216D-6693-4BFC-9CF6-AD539BF88CA5}" destId="{B43A671B-7E61-48F4-8A97-5FB07AF36519}" srcOrd="0" destOrd="0" presId="urn:microsoft.com/office/officeart/2005/8/layout/process1"/>
    <dgm:cxn modelId="{A78F81A6-DF88-451F-AE7B-FA6B738B08DB}" type="presParOf" srcId="{70E55983-5224-4F6B-AA1C-AA6BD0B29B75}" destId="{831935E8-20A3-4341-B34F-EBEC45D2FF16}" srcOrd="2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00D5A7-59F4-41BA-9665-D68A8DD51CF3}">
      <dsp:nvSpPr>
        <dsp:cNvPr id="0" name=""/>
        <dsp:cNvSpPr/>
      </dsp:nvSpPr>
      <dsp:spPr>
        <a:xfrm>
          <a:off x="834" y="93831"/>
          <a:ext cx="1778667" cy="10672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b="0" i="0" kern="1200" dirty="0"/>
            <a:t>Мало данных для обучения модели</a:t>
          </a:r>
          <a:endParaRPr lang="ru-RU" sz="1800" kern="1200" dirty="0"/>
        </a:p>
      </dsp:txBody>
      <dsp:txXfrm>
        <a:off x="32091" y="125088"/>
        <a:ext cx="1716153" cy="1004686"/>
      </dsp:txXfrm>
    </dsp:sp>
    <dsp:sp modelId="{9B23216D-6693-4BFC-9CF6-AD539BF88CA5}">
      <dsp:nvSpPr>
        <dsp:cNvPr id="0" name=""/>
        <dsp:cNvSpPr/>
      </dsp:nvSpPr>
      <dsp:spPr>
        <a:xfrm>
          <a:off x="1856082" y="406876"/>
          <a:ext cx="579647" cy="441109"/>
        </a:xfrm>
        <a:prstGeom prst="rightArrow">
          <a:avLst/>
        </a:prstGeom>
        <a:gradFill flip="none" rotWithShape="0">
          <a:gsLst>
            <a:gs pos="0">
              <a:schemeClr val="accent1">
                <a:lumMod val="60000"/>
                <a:lumOff val="40000"/>
                <a:shade val="30000"/>
                <a:satMod val="115000"/>
              </a:schemeClr>
            </a:gs>
            <a:gs pos="50000">
              <a:schemeClr val="accent1">
                <a:lumMod val="60000"/>
                <a:lumOff val="40000"/>
                <a:shade val="67500"/>
                <a:satMod val="115000"/>
              </a:schemeClr>
            </a:gs>
            <a:gs pos="100000">
              <a:schemeClr val="accent1">
                <a:lumMod val="60000"/>
                <a:lumOff val="40000"/>
                <a:shade val="100000"/>
                <a:satMod val="115000"/>
              </a:schemeClr>
            </a:gs>
          </a:gsLst>
          <a:path path="circle">
            <a:fillToRect t="100000" r="100000"/>
          </a:path>
          <a:tileRect l="-100000" b="-10000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400" kern="1200"/>
        </a:p>
      </dsp:txBody>
      <dsp:txXfrm>
        <a:off x="1856082" y="495098"/>
        <a:ext cx="447314" cy="264665"/>
      </dsp:txXfrm>
    </dsp:sp>
    <dsp:sp modelId="{831935E8-20A3-4341-B34F-EBEC45D2FF16}">
      <dsp:nvSpPr>
        <dsp:cNvPr id="0" name=""/>
        <dsp:cNvSpPr/>
      </dsp:nvSpPr>
      <dsp:spPr>
        <a:xfrm>
          <a:off x="2490967" y="93831"/>
          <a:ext cx="1778667" cy="1067200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800" b="0" i="0" kern="1200" dirty="0"/>
            <a:t>Синтетические данные, ручное оценивание</a:t>
          </a:r>
          <a:endParaRPr lang="ru-RU" sz="1800" kern="1200" dirty="0"/>
        </a:p>
      </dsp:txBody>
      <dsp:txXfrm>
        <a:off x="2522224" y="125088"/>
        <a:ext cx="1716153" cy="10046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00D5A7-59F4-41BA-9665-D68A8DD51CF3}">
      <dsp:nvSpPr>
        <dsp:cNvPr id="0" name=""/>
        <dsp:cNvSpPr/>
      </dsp:nvSpPr>
      <dsp:spPr>
        <a:xfrm>
          <a:off x="525" y="0"/>
          <a:ext cx="1232347" cy="12548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kern="1200" dirty="0"/>
            <a:t>Низкая точность модели</a:t>
          </a:r>
          <a:endParaRPr lang="ru-RU" sz="1400" kern="1200" dirty="0"/>
        </a:p>
      </dsp:txBody>
      <dsp:txXfrm>
        <a:off x="36619" y="36094"/>
        <a:ext cx="1160159" cy="1182675"/>
      </dsp:txXfrm>
    </dsp:sp>
    <dsp:sp modelId="{9B23216D-6693-4BFC-9CF6-AD539BF88CA5}">
      <dsp:nvSpPr>
        <dsp:cNvPr id="0" name=""/>
        <dsp:cNvSpPr/>
      </dsp:nvSpPr>
      <dsp:spPr>
        <a:xfrm>
          <a:off x="1285932" y="474620"/>
          <a:ext cx="401607" cy="305622"/>
        </a:xfrm>
        <a:prstGeom prst="rightArrow">
          <a:avLst/>
        </a:prstGeom>
        <a:gradFill flip="none" rotWithShape="0">
          <a:gsLst>
            <a:gs pos="0">
              <a:schemeClr val="accent1">
                <a:lumMod val="60000"/>
                <a:lumOff val="40000"/>
                <a:shade val="30000"/>
                <a:satMod val="115000"/>
              </a:schemeClr>
            </a:gs>
            <a:gs pos="50000">
              <a:schemeClr val="accent1">
                <a:lumMod val="60000"/>
                <a:lumOff val="40000"/>
                <a:shade val="67500"/>
                <a:satMod val="115000"/>
              </a:schemeClr>
            </a:gs>
            <a:gs pos="100000">
              <a:schemeClr val="accent1">
                <a:lumMod val="60000"/>
                <a:lumOff val="40000"/>
                <a:shade val="100000"/>
                <a:satMod val="115000"/>
              </a:schemeClr>
            </a:gs>
          </a:gsLst>
          <a:path path="circle">
            <a:fillToRect t="100000" r="100000"/>
          </a:path>
          <a:tileRect l="-100000" b="-10000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200" kern="1200"/>
        </a:p>
      </dsp:txBody>
      <dsp:txXfrm>
        <a:off x="1285932" y="535744"/>
        <a:ext cx="309920" cy="183374"/>
      </dsp:txXfrm>
    </dsp:sp>
    <dsp:sp modelId="{831935E8-20A3-4341-B34F-EBEC45D2FF16}">
      <dsp:nvSpPr>
        <dsp:cNvPr id="0" name=""/>
        <dsp:cNvSpPr/>
      </dsp:nvSpPr>
      <dsp:spPr>
        <a:xfrm>
          <a:off x="1725811" y="0"/>
          <a:ext cx="2544131" cy="125486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400" b="0" i="0" kern="1200" dirty="0"/>
            <a:t>Анализ ошибок, добавление признаков, иной вариант (популярное + коллаборативная фильтрация)</a:t>
          </a:r>
          <a:endParaRPr lang="ru-RU" sz="1400" kern="1200" dirty="0"/>
        </a:p>
      </dsp:txBody>
      <dsp:txXfrm>
        <a:off x="1762565" y="36754"/>
        <a:ext cx="2470623" cy="118135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00D5A7-59F4-41BA-9665-D68A8DD51CF3}">
      <dsp:nvSpPr>
        <dsp:cNvPr id="0" name=""/>
        <dsp:cNvSpPr/>
      </dsp:nvSpPr>
      <dsp:spPr>
        <a:xfrm>
          <a:off x="1155" y="0"/>
          <a:ext cx="1472144" cy="125486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b="0" i="0" kern="1200" dirty="0"/>
            <a:t>Высокая нагрузка на сервер</a:t>
          </a:r>
          <a:endParaRPr lang="ru-RU" sz="1500" kern="1200" dirty="0"/>
        </a:p>
      </dsp:txBody>
      <dsp:txXfrm>
        <a:off x="37909" y="36754"/>
        <a:ext cx="1398636" cy="1181355"/>
      </dsp:txXfrm>
    </dsp:sp>
    <dsp:sp modelId="{9B23216D-6693-4BFC-9CF6-AD539BF88CA5}">
      <dsp:nvSpPr>
        <dsp:cNvPr id="0" name=""/>
        <dsp:cNvSpPr/>
      </dsp:nvSpPr>
      <dsp:spPr>
        <a:xfrm>
          <a:off x="1536683" y="444885"/>
          <a:ext cx="479754" cy="365091"/>
        </a:xfrm>
        <a:prstGeom prst="rightArrow">
          <a:avLst/>
        </a:prstGeom>
        <a:gradFill flip="none" rotWithShape="0">
          <a:gsLst>
            <a:gs pos="0">
              <a:schemeClr val="accent1">
                <a:lumMod val="60000"/>
                <a:lumOff val="40000"/>
                <a:shade val="30000"/>
                <a:satMod val="115000"/>
              </a:schemeClr>
            </a:gs>
            <a:gs pos="50000">
              <a:schemeClr val="accent1">
                <a:lumMod val="60000"/>
                <a:lumOff val="40000"/>
                <a:shade val="67500"/>
                <a:satMod val="115000"/>
              </a:schemeClr>
            </a:gs>
            <a:gs pos="100000">
              <a:schemeClr val="accent1">
                <a:lumMod val="60000"/>
                <a:lumOff val="40000"/>
                <a:shade val="100000"/>
                <a:satMod val="115000"/>
              </a:schemeClr>
            </a:gs>
          </a:gsLst>
          <a:path path="circle">
            <a:fillToRect t="100000" r="100000"/>
          </a:path>
          <a:tileRect l="-100000" b="-100000"/>
        </a:gra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ru-RU" sz="1200" kern="1200"/>
        </a:p>
      </dsp:txBody>
      <dsp:txXfrm>
        <a:off x="1536683" y="517903"/>
        <a:ext cx="370227" cy="219055"/>
      </dsp:txXfrm>
    </dsp:sp>
    <dsp:sp modelId="{831935E8-20A3-4341-B34F-EBEC45D2FF16}">
      <dsp:nvSpPr>
        <dsp:cNvPr id="0" name=""/>
        <dsp:cNvSpPr/>
      </dsp:nvSpPr>
      <dsp:spPr>
        <a:xfrm>
          <a:off x="2062157" y="0"/>
          <a:ext cx="2207156" cy="125486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1500" b="0" i="0" kern="1200" dirty="0"/>
            <a:t>Кэширование, асинхронность, при необходимости – более мощный сервер</a:t>
          </a:r>
          <a:endParaRPr lang="ru-RU" sz="1500" kern="1200" dirty="0"/>
        </a:p>
      </dsp:txBody>
      <dsp:txXfrm>
        <a:off x="2098911" y="36754"/>
        <a:ext cx="2133648" cy="11813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1947FD-A716-4211-B699-A6B086DF38C3}" type="datetimeFigureOut">
              <a:rPr lang="ru-RU" smtClean="0"/>
              <a:t>21.06.2026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B70F4F-2F34-482B-84FB-D4CE52A251B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1598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6156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0569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B70F4F-2F34-482B-84FB-D4CE52A251B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9289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8CCF1-2E77-4A64-BE02-C09C5E2EF7D6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7584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532B67-2CD8-4589-92DA-D7A9F79848EC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8745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32369D-8065-4D88-B6A2-4381169300B4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00458" y="6459786"/>
            <a:ext cx="1312025" cy="284964"/>
          </a:xfrm>
        </p:spPr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4033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98903-934B-48B1-B309-7133B8C2317F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/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4890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0CEC3-8E6A-4101-BD09-1EDEBE0AD976}" type="datetime1">
              <a:rPr lang="ru-RU" smtClean="0"/>
              <a:t>21.06.2026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998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77ECA8-7729-43DA-9049-C18FF7AF25A0}" type="datetime1">
              <a:rPr lang="ru-RU" smtClean="0"/>
              <a:t>21.06.2026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1471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20CC8-A20C-4249-A4FF-9317780A4016}" type="datetime1">
              <a:rPr lang="ru-RU" smtClean="0"/>
              <a:t>21.06.2026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8490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3F4CBAE-B1F8-40CB-AD59-6F3058F975C3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4178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91FD1-542C-4091-A7C0-C725AC3A2669}" type="datetime1">
              <a:rPr lang="ru-RU" smtClean="0"/>
              <a:t>21.06.2026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615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2E66F-F12B-4C89-AC80-BE33EC31B25F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2423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344DE-D35A-4CDF-86CF-34C99E2DD5D4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361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C59E107-6F98-4091-AB69-2D0030021222}" type="datetime1">
              <a:rPr lang="ru-RU" smtClean="0"/>
              <a:t>21.06.2026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A5973314-C3AC-487C-8E31-FDBE340A6F4C}" type="slidenum">
              <a:rPr lang="ru-RU" smtClean="0"/>
              <a:pPr/>
              <a:t>‹#›</a:t>
            </a:fld>
            <a:endParaRPr lang="ru-RU" sz="2000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89586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13" Type="http://schemas.openxmlformats.org/officeDocument/2006/relationships/diagramLayout" Target="../diagrams/layout3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12" Type="http://schemas.openxmlformats.org/officeDocument/2006/relationships/diagramData" Target="../diagrams/data3.xml"/><Relationship Id="rId2" Type="http://schemas.openxmlformats.org/officeDocument/2006/relationships/diagramData" Target="../diagrams/data1.xml"/><Relationship Id="rId16" Type="http://schemas.microsoft.com/office/2007/relationships/diagramDrawing" Target="../diagrams/drawing3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5" Type="http://schemas.openxmlformats.org/officeDocument/2006/relationships/diagramColors" Target="../diagrams/colors3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Relationship Id="rId14" Type="http://schemas.openxmlformats.org/officeDocument/2006/relationships/diagramQuickStyle" Target="../diagrams/quickStyle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899924-F31C-7B0C-CCDA-63B2D8EA4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2215990"/>
            <a:ext cx="10058400" cy="2109121"/>
          </a:xfrm>
        </p:spPr>
        <p:txBody>
          <a:bodyPr>
            <a:normAutofit/>
          </a:bodyPr>
          <a:lstStyle/>
          <a:p>
            <a:pPr algn="ctr"/>
            <a:r>
              <a:rPr lang="ru-RU" sz="4400" dirty="0"/>
              <a:t>Информационная система арт галереи. Модуль рекомендаций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501F58-6FDB-84F7-7677-08F2971BC435}"/>
              </a:ext>
            </a:extLst>
          </p:cNvPr>
          <p:cNvSpPr/>
          <p:nvPr/>
        </p:nvSpPr>
        <p:spPr>
          <a:xfrm>
            <a:off x="0" y="0"/>
            <a:ext cx="12192000" cy="22159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Министерство науки и высшего образования Российской Федерации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Федеральное государственное бюджетное образовательное учреждение высшего образования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«Владимирский государственный университет 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имени Александра Григорьевича и Николая Григорьевича Столетовых»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(</a:t>
            </a:r>
            <a:r>
              <a:rPr lang="ru-RU" sz="1200" cap="all" spc="200" dirty="0" err="1">
                <a:solidFill>
                  <a:schemeClr val="tx2"/>
                </a:solidFill>
                <a:latin typeface="+mj-lt"/>
              </a:rPr>
              <a:t>ВлГу</a:t>
            </a: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)</a:t>
            </a: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endParaRPr lang="ru-RU" sz="1200" cap="all" spc="200" dirty="0">
              <a:solidFill>
                <a:schemeClr val="tx2"/>
              </a:solidFill>
              <a:latin typeface="+mj-lt"/>
            </a:endParaRPr>
          </a:p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Институт информационных технологий и электроники</a:t>
            </a:r>
          </a:p>
          <a:p>
            <a:pPr algn="ctr"/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Кафедра информационных систем и программной инженерии</a:t>
            </a:r>
            <a:endParaRPr lang="ru-RU" cap="all" spc="200" dirty="0">
              <a:solidFill>
                <a:schemeClr val="tx2"/>
              </a:solidFill>
              <a:latin typeface="+mj-lt"/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8C408A93-475B-1FD4-64D3-C2E8E98A6A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138" y="4456113"/>
            <a:ext cx="10058400" cy="1143000"/>
          </a:xfrm>
        </p:spPr>
        <p:txBody>
          <a:bodyPr anchor="ctr">
            <a:norm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dirty="0"/>
              <a:t>Выполнил: Студент группы ПРИ-122 Шутова Т.Е.</a:t>
            </a:r>
          </a:p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200" dirty="0"/>
              <a:t>Руководитель: к.т.н., доцент кафедры ИСПИ </a:t>
            </a:r>
            <a:r>
              <a:rPr lang="ru-RU" sz="1200" dirty="0" err="1"/>
              <a:t>Влгу</a:t>
            </a:r>
            <a:r>
              <a:rPr lang="ru-RU" sz="1200" dirty="0"/>
              <a:t> Озерова М.И.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FBE912C-EA89-3318-B8BA-83F841851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</a:t>
            </a:fld>
            <a:endParaRPr lang="ru-RU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5174338-6AB2-2C5B-3C21-2681AC7B2071}"/>
              </a:ext>
            </a:extLst>
          </p:cNvPr>
          <p:cNvSpPr/>
          <p:nvPr/>
        </p:nvSpPr>
        <p:spPr>
          <a:xfrm>
            <a:off x="30480" y="5952565"/>
            <a:ext cx="12192000" cy="3407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ctr">
              <a:lnSpc>
                <a:spcPct val="150000"/>
              </a:lnSpc>
              <a:spcAft>
                <a:spcPts val="0"/>
              </a:spcAft>
            </a:pPr>
            <a:r>
              <a:rPr lang="ru-RU" sz="1200" cap="all" spc="200" dirty="0">
                <a:solidFill>
                  <a:schemeClr val="tx2"/>
                </a:solidFill>
                <a:latin typeface="+mj-lt"/>
              </a:rPr>
              <a:t>г. Владимир, 2026</a:t>
            </a:r>
            <a:endParaRPr lang="ru-RU" cap="all" spc="200" dirty="0">
              <a:solidFill>
                <a:schemeClr val="tx2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90997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6D48C4-4E13-2E91-223B-0E8502C5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314DA1-0CCA-8066-3A86-D4A81919E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Арт-галереи нуждаются в онлайн-платформе, учитывающей специфику художественного контента и предлагающей персонализированный подход. </a:t>
            </a:r>
          </a:p>
          <a:p>
            <a:r>
              <a:rPr lang="ru-RU" dirty="0"/>
              <a:t>Для повышения вовлечённости требуется модуль рекомендаций на основе данных о взаимодействиях с произведениями искусства. </a:t>
            </a:r>
          </a:p>
          <a:p>
            <a:r>
              <a:rPr lang="ru-RU" dirty="0"/>
              <a:t>Проект важен для цифровизации культуры, автоматизируя управление контентом и пользователями через интеллектуальные рекомендации на основе машинного обучения. Это увеличивает вовлеченность и время пребывания посетителей. </a:t>
            </a:r>
          </a:p>
          <a:p>
            <a:r>
              <a:rPr lang="ru-RU" dirty="0"/>
              <a:t>С технической стороны проект включает интеграцию гибридного алгоритма на основе машинного обучения с высоконагруженной серверной части на Java Spring MVC, предлагая воспроизводимые архитектурные решения.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6572523-24B1-5E3B-4981-A4BFD5C89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4509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0CE555DC-31A3-B320-02A4-8BB38FC13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2" name="Объект 1">
            <a:extLst>
              <a:ext uri="{FF2B5EF4-FFF2-40B4-BE49-F238E27FC236}">
                <a16:creationId xmlns:a16="http://schemas.microsoft.com/office/drawing/2014/main" id="{463F2928-0049-978E-540C-4E1E2ABB297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sz="4000" dirty="0"/>
              <a:t>Цель:</a:t>
            </a:r>
          </a:p>
          <a:p>
            <a:pPr marL="358775" indent="-358775">
              <a:buFont typeface="Calibri" panose="020F0502020204030204" pitchFamily="34" charset="0"/>
              <a:buChar char="―"/>
            </a:pPr>
            <a:r>
              <a:rPr lang="ru-RU" sz="2900" dirty="0"/>
              <a:t>Улучшение пользовательского опыта за счёт рекомендательной системы</a:t>
            </a:r>
          </a:p>
          <a:p>
            <a:pPr marL="91440" marR="0" lvl="0" indent="-9144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 "/>
              <a:tabLst/>
              <a:defRPr/>
            </a:pPr>
            <a:r>
              <a:rPr kumimoji="0" lang="ru-RU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Задачи: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Провести анализ подходов к построению рекомендательных систем.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Разработать алгоритм гибридных рекомендаций. </a:t>
            </a:r>
          </a:p>
          <a:p>
            <a:pPr marL="355600" marR="0" lvl="0" indent="-3556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―"/>
              <a:tabLst/>
              <a:defRPr/>
            </a:pPr>
            <a:r>
              <a:rPr kumimoji="0" lang="ru-RU" sz="2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Реализовать на Python модуль для подготовки данных, обучения модели и формирования рекомендаций.</a:t>
            </a:r>
          </a:p>
          <a:p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9C45EB7-5953-512D-D3C1-ABE5C855EF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Интегрировать Python-модуль в Java-приложение через вызов скриптов с передачей данных в формате JSON.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Реализовать механизм рандомизированной выдачи рекомендаций: выбирать 12 из топ-50 и 8 из схожих работ для разнообразия.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Обеспечить возможность ручного и автоматического переобучения модели и </a:t>
            </a:r>
            <a:r>
              <a:rPr lang="ru-RU" dirty="0" err="1"/>
              <a:t>пересканирования</a:t>
            </a:r>
            <a:r>
              <a:rPr lang="ru-RU" dirty="0"/>
              <a:t> изображений.</a:t>
            </a:r>
          </a:p>
          <a:p>
            <a:pPr marL="355600" indent="-355600">
              <a:buFont typeface="Calibri" panose="020F0502020204030204" pitchFamily="34" charset="0"/>
              <a:buChar char="―"/>
            </a:pPr>
            <a:r>
              <a:rPr lang="ru-RU" dirty="0"/>
              <a:t>Оценить качество работы модели с использованием метрик Precision@5, Recall@5 и </a:t>
            </a:r>
            <a:r>
              <a:rPr lang="ru-RU" dirty="0" err="1"/>
              <a:t>Coverage</a:t>
            </a:r>
            <a:r>
              <a:rPr lang="ru-RU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1CBE91-E0ED-C730-4884-94477144D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57190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BC066B7-8D19-0C96-CC84-86DE7A123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Сравнительный анализ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5B5DB4D0-00FB-C719-F692-D09FF6054BF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2521323"/>
              </p:ext>
            </p:extLst>
          </p:nvPr>
        </p:nvGraphicFramePr>
        <p:xfrm>
          <a:off x="546100" y="1968501"/>
          <a:ext cx="11353800" cy="4127494"/>
        </p:xfrm>
        <a:graphic>
          <a:graphicData uri="http://schemas.openxmlformats.org/drawingml/2006/table">
            <a:tbl>
              <a:tblPr firstRow="1" firstCol="1" bandRow="1">
                <a:tableStyleId>{69012ECD-51FC-41F1-AA8D-1B2483CD663E}</a:tableStyleId>
              </a:tblPr>
              <a:tblGrid>
                <a:gridCol w="2468316">
                  <a:extLst>
                    <a:ext uri="{9D8B030D-6E8A-4147-A177-3AD203B41FA5}">
                      <a16:colId xmlns:a16="http://schemas.microsoft.com/office/drawing/2014/main" val="3863265550"/>
                    </a:ext>
                  </a:extLst>
                </a:gridCol>
                <a:gridCol w="2304823">
                  <a:extLst>
                    <a:ext uri="{9D8B030D-6E8A-4147-A177-3AD203B41FA5}">
                      <a16:colId xmlns:a16="http://schemas.microsoft.com/office/drawing/2014/main" val="999227942"/>
                    </a:ext>
                  </a:extLst>
                </a:gridCol>
                <a:gridCol w="1943770">
                  <a:extLst>
                    <a:ext uri="{9D8B030D-6E8A-4147-A177-3AD203B41FA5}">
                      <a16:colId xmlns:a16="http://schemas.microsoft.com/office/drawing/2014/main" val="1670632162"/>
                    </a:ext>
                  </a:extLst>
                </a:gridCol>
                <a:gridCol w="2147691">
                  <a:extLst>
                    <a:ext uri="{9D8B030D-6E8A-4147-A177-3AD203B41FA5}">
                      <a16:colId xmlns:a16="http://schemas.microsoft.com/office/drawing/2014/main" val="1964260055"/>
                    </a:ext>
                  </a:extLst>
                </a:gridCol>
                <a:gridCol w="2489200">
                  <a:extLst>
                    <a:ext uri="{9D8B030D-6E8A-4147-A177-3AD203B41FA5}">
                      <a16:colId xmlns:a16="http://schemas.microsoft.com/office/drawing/2014/main" val="2002662928"/>
                    </a:ext>
                  </a:extLst>
                </a:gridCol>
              </a:tblGrid>
              <a:tr h="287896"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Критерий / Платформа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Pinterest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DeviantArt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ArtStation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Разр. ИС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293432279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Фокус на искусстве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Визуальный агрегатор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Сообщество художников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Профессиональные цифровые художники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Арт-галерея, сообщество художников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53037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Премодерация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Нет (жалобы)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Выборочная, жалобы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Нет (жалобы)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На основе нейронной сети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674720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Лайки / Комментарии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(сохранения) / Ограниченно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Да / Да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4561113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Категории/Теги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Теги, доски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Категории, 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Теги, проекты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Категории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6357842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Коллекции 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Доски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Галереи, коллекции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Проекты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Выставки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085000"/>
                  </a:ext>
                </a:extLst>
              </a:tr>
              <a:tr h="287896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Профиль как портфолио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>
                          <a:effectLst/>
                        </a:rPr>
                        <a:t>Сборник досок</a:t>
                      </a:r>
                      <a:endParaRPr lang="ru-RU" sz="16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Очень 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Развит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995718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Монетизация/Продажи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Партнерские ссылки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Продажа принтов, комиссии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Продажа работ, найм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Партнерские ссылки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353280"/>
                  </a:ext>
                </a:extLst>
              </a:tr>
              <a:tr h="595182"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Тип рекомендаций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похожие пины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подписки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Популярное, теги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R="17145">
                        <a:lnSpc>
                          <a:spcPct val="115000"/>
                        </a:lnSpc>
                        <a:buNone/>
                      </a:pPr>
                      <a:r>
                        <a:rPr lang="ru-RU" sz="1600" dirty="0">
                          <a:effectLst/>
                        </a:rPr>
                        <a:t>Гибридный (SVD + TF‑IDF) + визуальное сходство</a:t>
                      </a:r>
                      <a:endParaRPr lang="ru-RU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408536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E09251-7268-8FEF-9DE7-6917D7BD8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231655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3A8755-0130-D4B6-027D-22F05252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требований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82F806B-A155-66D8-DE8E-4E08301926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Требования к веб-приложению: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Регистрация, аутентификация, роли (Художник, Администратор, Посетитель)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Загрузка работ → автоматическая модерация → сканирование визуальных признаков → общий доступ в случае успеха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Лайки, комментарии, создание выставок (публичных / приватных)</a:t>
            </a:r>
          </a:p>
          <a:p>
            <a:pPr marL="358775" indent="-358775">
              <a:lnSpc>
                <a:spcPct val="7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REST API для веб-клиента</a:t>
            </a:r>
          </a:p>
          <a:p>
            <a:endParaRPr lang="ru-RU" dirty="0"/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C88F961-E0C8-078A-A5D8-66777C08806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Требования к модулю рекомендаций: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Гибридный алгоритм: SVD + TF‑IDF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Визуальные признаки: </a:t>
            </a:r>
            <a:r>
              <a:rPr lang="ru-RU" sz="2200" dirty="0" err="1"/>
              <a:t>OpenCLIP</a:t>
            </a:r>
            <a:r>
              <a:rPr lang="ru-RU" sz="2200" dirty="0"/>
              <a:t> и цветовые сходства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Два режима: обучение (офлайн) и </a:t>
            </a:r>
            <a:r>
              <a:rPr lang="ru-RU" sz="2200" dirty="0" err="1"/>
              <a:t>инференс</a:t>
            </a:r>
            <a:r>
              <a:rPr lang="ru-RU" sz="2200" dirty="0"/>
              <a:t> (топ‑50 → выбор 12)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Интеграция с Java через </a:t>
            </a:r>
            <a:r>
              <a:rPr lang="ru-RU" sz="2200" dirty="0" err="1"/>
              <a:t>ProcessBuilder</a:t>
            </a:r>
            <a:r>
              <a:rPr lang="ru-RU" sz="2200" dirty="0"/>
              <a:t> (JSON)</a:t>
            </a:r>
          </a:p>
          <a:p>
            <a:pPr marL="358775" indent="-358775">
              <a:lnSpc>
                <a:spcPct val="80000"/>
              </a:lnSpc>
              <a:buFont typeface="Calibri" panose="020F0502020204030204" pitchFamily="34" charset="0"/>
              <a:buChar char="―"/>
            </a:pPr>
            <a:r>
              <a:rPr lang="ru-RU" sz="2200" dirty="0"/>
              <a:t>Метрики: Precision@5 ≥ 0,2, Recall@5 ≥ 0,5, время </a:t>
            </a:r>
            <a:r>
              <a:rPr lang="ru-RU" sz="2200" dirty="0" err="1"/>
              <a:t>инференса</a:t>
            </a:r>
            <a:r>
              <a:rPr lang="ru-RU" sz="2200" dirty="0"/>
              <a:t> ≤ 5 с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5E0E28-025B-D517-37E0-0CFA318FC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5</a:t>
            </a:fld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68334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1CCD48-276A-2EE9-CE5C-C514E1C1F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9A0CBF1-86E0-4C19-2308-D107F08AC4F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sz="2400" dirty="0"/>
              <a:t>Пользователи: Посетитель (неавторизованный пользователь), Художник (авторизованный пользователь), Администратор </a:t>
            </a:r>
            <a:endParaRPr lang="en-US" sz="2400" dirty="0"/>
          </a:p>
          <a:p>
            <a:r>
              <a:rPr lang="ru-RU" sz="2400" dirty="0"/>
              <a:t>Веб-приложение:</a:t>
            </a:r>
            <a:r>
              <a:rPr lang="en-US" sz="2400" dirty="0"/>
              <a:t> </a:t>
            </a:r>
            <a:r>
              <a:rPr lang="ru-RU" sz="2400" dirty="0"/>
              <a:t>монолит, Java 17, Spring MVC, Spring Security, </a:t>
            </a:r>
            <a:r>
              <a:rPr lang="ru-RU" sz="2400" dirty="0" err="1"/>
              <a:t>Hibernate</a:t>
            </a:r>
            <a:r>
              <a:rPr lang="ru-RU" sz="2400" dirty="0"/>
              <a:t>, MySQL 8.0</a:t>
            </a:r>
            <a:endParaRPr lang="en-US" sz="2400" dirty="0"/>
          </a:p>
          <a:p>
            <a:r>
              <a:rPr lang="ru-RU" sz="2400" dirty="0"/>
              <a:t>Рекомендательная система: </a:t>
            </a:r>
            <a:r>
              <a:rPr lang="en-US" sz="2400" dirty="0"/>
              <a:t>Python 3.11, </a:t>
            </a:r>
            <a:r>
              <a:rPr lang="ru-RU" sz="2400" dirty="0" err="1"/>
              <a:t>pandas</a:t>
            </a:r>
            <a:r>
              <a:rPr lang="ru-RU" sz="2400" dirty="0"/>
              <a:t>, </a:t>
            </a:r>
            <a:r>
              <a:rPr lang="ru-RU" sz="2400" dirty="0" err="1"/>
              <a:t>numpy</a:t>
            </a:r>
            <a:r>
              <a:rPr lang="ru-RU" sz="2400" dirty="0"/>
              <a:t>, </a:t>
            </a:r>
            <a:r>
              <a:rPr lang="ru-RU" sz="2400" dirty="0" err="1"/>
              <a:t>scikit-learn</a:t>
            </a:r>
            <a:r>
              <a:rPr lang="ru-RU" sz="2400" dirty="0"/>
              <a:t>, </a:t>
            </a:r>
            <a:r>
              <a:rPr lang="ru-RU" sz="2400" dirty="0" err="1"/>
              <a:t>open_clip_torch</a:t>
            </a:r>
            <a:r>
              <a:rPr lang="ru-RU" sz="2400" dirty="0"/>
              <a:t>, </a:t>
            </a:r>
            <a:r>
              <a:rPr lang="ru-RU" sz="2400" dirty="0" err="1"/>
              <a:t>torch</a:t>
            </a:r>
            <a:r>
              <a:rPr lang="ru-RU" sz="2400" dirty="0"/>
              <a:t>.</a:t>
            </a:r>
            <a:endParaRPr lang="en-US" sz="2400" dirty="0"/>
          </a:p>
          <a:p>
            <a:r>
              <a:rPr lang="ru-RU" sz="2400" dirty="0"/>
              <a:t>Хранилище: </a:t>
            </a:r>
            <a:r>
              <a:rPr lang="en-US" sz="2400" dirty="0" err="1"/>
              <a:t>MinIO</a:t>
            </a:r>
            <a:endParaRPr lang="ru-RU" sz="2400" dirty="0"/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511891-84A7-34F3-32AC-F71331572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6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AC58DA4F-7C1A-FDFD-051A-C232374B5CC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431726" y="1846263"/>
            <a:ext cx="4510149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281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5B7524D4-BD2C-A9BF-7CC0-C41CDFE3E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развёртывания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BF5B2429-155D-DBE7-3DB2-E7BC635C468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1D83149-B3B6-5FCA-5042-3C4F0618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7</a:t>
            </a:fld>
            <a:endParaRPr lang="ru-RU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0EE1963B-B416-4E6A-6A9A-025063B051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294253" y="996950"/>
            <a:ext cx="7674843" cy="4864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683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31C7AC-1147-1AFA-F28C-CBFE8D3B8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Диаграмма прецедентов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1C0CBFA-C917-3B4D-926E-8BCC23E2EEE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Действия, связанные с модулем: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Три режима просмотра списка публикаций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Обновление рекомендаций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Улучшены детали публикации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Переобучение модели</a:t>
            </a:r>
          </a:p>
          <a:p>
            <a:pPr marL="285750" indent="-285750">
              <a:buClr>
                <a:schemeClr val="bg2"/>
              </a:buClr>
              <a:buFont typeface="Calibri" panose="020F0502020204030204" pitchFamily="34" charset="0"/>
              <a:buChar char="―"/>
            </a:pPr>
            <a:r>
              <a:rPr lang="ru-RU" dirty="0"/>
              <a:t>Сканирование изображений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AEDEE2E-E386-8205-67F6-09EE0744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8</a:t>
            </a:fld>
            <a:endParaRPr lang="ru-RU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1CACADA3-D7D9-84DC-68D1-86056C01FD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8271" y="33090"/>
            <a:ext cx="4728151" cy="67918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09388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657E5D-D51C-4683-5F15-95305680D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</a:t>
            </a:r>
            <a:r>
              <a:rPr lang="ru-RU" dirty="0"/>
              <a:t>диаграмма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EAAD7C-19ED-A2C6-4A3C-06B4494BE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4FB2B-6188-D59E-21C6-166BD2545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9</a:t>
            </a:fld>
            <a:endParaRPr lang="ru-RU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09823867-DBD0-0D29-51CE-A18C1A67E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648" y="292558"/>
            <a:ext cx="6034835" cy="627288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06716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69C0576D-ADA0-CF81-521F-F0F003E4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400" dirty="0"/>
              <a:t>Математическая модель рекомендаций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Объект 6">
                <a:extLst>
                  <a:ext uri="{FF2B5EF4-FFF2-40B4-BE49-F238E27FC236}">
                    <a16:creationId xmlns:a16="http://schemas.microsoft.com/office/drawing/2014/main" id="{F5AF4E61-ADA4-794C-D135-81A04610AD0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7176" y="1845734"/>
                <a:ext cx="5317863" cy="4023360"/>
              </a:xfrm>
            </p:spPr>
            <p:txBody>
              <a:bodyPr>
                <a:noAutofit/>
              </a:bodyPr>
              <a:lstStyle/>
              <a:p>
                <a:pPr marL="179388" indent="-179388"/>
                <a:r>
                  <a:rPr lang="ru-RU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Формула гибридных рекомендаций:</a:t>
                </a:r>
              </a:p>
              <a:p>
                <a:pPr marL="179388" indent="-179388">
                  <a:lnSpc>
                    <a:spcPct val="100000"/>
                  </a:lnSpc>
                </a:pPr>
                <a14:m>
                  <m:oMath xmlns:m="http://schemas.openxmlformats.org/officeDocument/2006/math">
                    <m:r>
                      <a:rPr lang="ru-RU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ru-RU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∗ </m:t>
                    </m:r>
                    <m:f>
                      <m:fPr>
                        <m:ctrlPr>
                          <a:rPr lang="ru-RU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𝑢𝑖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𝑢𝑗</m:t>
                            </m:r>
                          </m:sub>
                        </m:sSub>
                      </m:den>
                    </m:f>
                    <m:r>
                      <a:rPr lang="ru-RU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ru-RU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1− </m:t>
                        </m:r>
                        <m:r>
                          <a:rPr lang="ru-RU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</m:d>
                    <m:r>
                      <a:rPr lang="ru-RU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∗ </m:t>
                    </m:r>
                    <m:f>
                      <m:fPr>
                        <m:ctrlPr>
                          <a:rPr lang="ru-RU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𝑠𝑖𝑚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𝑐𝑜𝑛𝑡𝑒𝑛𝑡</m:t>
                            </m:r>
                          </m:sub>
                        </m:sSub>
                        <m:r>
                          <a:rPr lang="ru-RU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  <m:d>
                          <m:d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ru-RU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ru-RU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num>
                      <m:den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𝑠𝑖𝑚</m:t>
                            </m:r>
                          </m:e>
                          <m:sub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𝑐𝑜𝑛𝑡𝑒𝑛𝑡</m:t>
                            </m:r>
                          </m:sub>
                        </m:sSub>
                        <m:r>
                          <a:rPr lang="ru-RU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  <m:d>
                          <m:dPr>
                            <m:ctrlP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ru-RU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lang="ru-RU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den>
                    </m:f>
                    <m:r>
                      <a:rPr lang="ru-RU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 ,</m:t>
                    </m:r>
                  </m:oMath>
                </a14:m>
                <a:endParaRPr lang="ru-RU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r>
                  <a:rPr lang="ru-RU" dirty="0"/>
                  <a:t>где </a:t>
                </a:r>
                <a:r>
                  <a:rPr lang="en-US" i="1" dirty="0"/>
                  <a:t>α </a:t>
                </a:r>
                <a:r>
                  <a:rPr lang="ru-RU" dirty="0"/>
                  <a:t>= 0,6 – коэффициент, определяющий вклад коллаборативной составляющей; </a:t>
                </a:r>
              </a:p>
              <a:p>
                <a:r>
                  <a:rPr lang="ru-RU" dirty="0" err="1"/>
                  <a:t>r</a:t>
                </a:r>
                <a:r>
                  <a:rPr lang="ru-RU" baseline="-25000" dirty="0" err="1"/>
                  <a:t>ui</a:t>
                </a:r>
                <a:r>
                  <a:rPr lang="ru-RU" baseline="-25000" dirty="0"/>
                  <a:t> </a:t>
                </a:r>
                <a:r>
                  <a:rPr lang="ru-RU" dirty="0"/>
                  <a:t>– предсказанный </a:t>
                </a:r>
                <a:r>
                  <a:rPr lang="en-US" dirty="0"/>
                  <a:t>SVD</a:t>
                </a:r>
                <a:r>
                  <a:rPr lang="ru-RU" dirty="0"/>
                  <a:t>-рейтинг;</a:t>
                </a:r>
                <a:r>
                  <a:rPr lang="ru-RU" baseline="-25000" dirty="0"/>
                  <a:t> </a:t>
                </a:r>
                <a:endParaRPr lang="ru-RU" dirty="0"/>
              </a:p>
              <a:p>
                <a:r>
                  <a:rPr lang="en-US" baseline="-25000" dirty="0"/>
                  <a:t>­</a:t>
                </a:r>
                <a:r>
                  <a:rPr lang="en-US" dirty="0" err="1"/>
                  <a:t>sim</a:t>
                </a:r>
                <a:r>
                  <a:rPr lang="en-US" baseline="-25000" dirty="0" err="1"/>
                  <a:t>content</a:t>
                </a:r>
                <a:r>
                  <a:rPr lang="en-US" dirty="0"/>
                  <a:t>(</a:t>
                </a:r>
                <a:r>
                  <a:rPr lang="en-US" dirty="0" err="1"/>
                  <a:t>i</a:t>
                </a:r>
                <a:r>
                  <a:rPr lang="en-US" dirty="0"/>
                  <a:t>, L</a:t>
                </a:r>
                <a:r>
                  <a:rPr lang="en-US" baseline="-25000" dirty="0"/>
                  <a:t>u</a:t>
                </a:r>
                <a:r>
                  <a:rPr lang="en-US" dirty="0"/>
                  <a:t>) – </a:t>
                </a:r>
                <a:r>
                  <a:rPr lang="en-US" dirty="0" err="1"/>
                  <a:t>максимальное</a:t>
                </a:r>
                <a:r>
                  <a:rPr lang="en-US" dirty="0"/>
                  <a:t> </a:t>
                </a:r>
                <a:r>
                  <a:rPr lang="en-US" dirty="0" err="1"/>
                  <a:t>косинусное</a:t>
                </a:r>
                <a:r>
                  <a:rPr lang="en-US" dirty="0"/>
                  <a:t> </a:t>
                </a:r>
                <a:r>
                  <a:rPr lang="en-US" dirty="0" err="1"/>
                  <a:t>сходство</a:t>
                </a:r>
                <a:r>
                  <a:rPr lang="en-US" dirty="0"/>
                  <a:t> </a:t>
                </a:r>
                <a:r>
                  <a:rPr lang="en-US" dirty="0" err="1"/>
                  <a:t>работы</a:t>
                </a:r>
                <a:r>
                  <a:rPr lang="en-US" dirty="0"/>
                  <a:t> </a:t>
                </a:r>
                <a:r>
                  <a:rPr lang="en-US" dirty="0" err="1"/>
                  <a:t>i</a:t>
                </a:r>
                <a:r>
                  <a:rPr lang="en-US" dirty="0"/>
                  <a:t> с </a:t>
                </a:r>
                <a:r>
                  <a:rPr lang="en-US" dirty="0" err="1"/>
                  <a:t>работами</a:t>
                </a:r>
                <a:r>
                  <a:rPr lang="en-US" dirty="0"/>
                  <a:t>, </a:t>
                </a:r>
                <a:r>
                  <a:rPr lang="en-US" dirty="0" err="1"/>
                  <a:t>которые</a:t>
                </a:r>
                <a:r>
                  <a:rPr lang="en-US" dirty="0"/>
                  <a:t> </a:t>
                </a:r>
                <a:r>
                  <a:rPr lang="en-US" dirty="0" err="1"/>
                  <a:t>пользователь</a:t>
                </a:r>
                <a:r>
                  <a:rPr lang="en-US" dirty="0"/>
                  <a:t> </a:t>
                </a:r>
                <a:r>
                  <a:rPr lang="en-US" dirty="0" err="1"/>
                  <a:t>ранее</a:t>
                </a:r>
                <a:r>
                  <a:rPr lang="en-US" dirty="0"/>
                  <a:t> </a:t>
                </a:r>
                <a:r>
                  <a:rPr lang="en-US" dirty="0" err="1"/>
                  <a:t>лайкнул</a:t>
                </a:r>
                <a:r>
                  <a:rPr lang="en-US" dirty="0"/>
                  <a:t> (</a:t>
                </a:r>
                <a:r>
                  <a:rPr lang="en-US" dirty="0" err="1"/>
                  <a:t>множество</a:t>
                </a:r>
                <a:r>
                  <a:rPr lang="en-US" dirty="0"/>
                  <a:t> L</a:t>
                </a:r>
                <a:r>
                  <a:rPr lang="en-US" baseline="-25000" dirty="0"/>
                  <a:t>u</a:t>
                </a:r>
                <a:r>
                  <a:rPr lang="en-US" dirty="0"/>
                  <a:t>). </a:t>
                </a:r>
                <a:endParaRPr lang="ru-RU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Объект 6">
                <a:extLst>
                  <a:ext uri="{FF2B5EF4-FFF2-40B4-BE49-F238E27FC236}">
                    <a16:creationId xmlns:a16="http://schemas.microsoft.com/office/drawing/2014/main" id="{F5AF4E61-ADA4-794C-D135-81A04610AD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7176" y="1845734"/>
                <a:ext cx="5317863" cy="4023360"/>
              </a:xfrm>
              <a:blipFill>
                <a:blip r:embed="rId2"/>
                <a:stretch>
                  <a:fillRect l="-1261" t="-1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Объект 1">
                <a:extLst>
                  <a:ext uri="{FF2B5EF4-FFF2-40B4-BE49-F238E27FC236}">
                    <a16:creationId xmlns:a16="http://schemas.microsoft.com/office/drawing/2014/main" id="{6EEF907E-E10F-DC36-625A-BEEFF3AD39F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217920" y="1845735"/>
                <a:ext cx="5445162" cy="4023360"/>
              </a:xfrm>
            </p:spPr>
            <p:txBody>
              <a:bodyPr>
                <a:normAutofit fontScale="85000" lnSpcReduction="20000"/>
              </a:bodyPr>
              <a:lstStyle/>
              <a:p>
                <a:pPr marL="179388" indent="-179388"/>
                <a:r>
                  <a:rPr lang="ru-RU" sz="24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Оценка визуального сходства:</a:t>
                </a:r>
              </a:p>
              <a:p>
                <a:pPr marL="0" indent="0"/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ru-RU" sz="19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func>
                      <m:funcPr>
                        <m:ctrlPr>
                          <a:rPr lang="ru-RU" sz="19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19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ru-RU" sz="1900" i="1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19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9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ru-RU" sz="19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190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19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9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ru-RU" sz="1900" i="1">
                                    <a:solidFill>
                                      <a:schemeClr val="tx1">
                                        <a:lumMod val="85000"/>
                                        <a:lumOff val="1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ru-RU" sz="19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ru-RU" sz="19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sz="19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ru-RU" sz="19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𝑡𝑎𝑔𝑜𝑣𝑒𝑟𝑙𝑎𝑝</m:t>
                    </m:r>
                    <m:d>
                      <m:dPr>
                        <m:ctrlP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19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ru-RU" sz="19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ru-RU" sz="19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sz="190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∗</m:t>
                    </m:r>
                    <m:r>
                      <a:rPr lang="ru-RU" sz="1900" i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Cambria Math" panose="02040503050406030204" pitchFamily="18" charset="0"/>
                      </a:rPr>
                      <m:t>𝑐𝑜𝑙𝑜𝑟𝑠𝑖𝑚</m:t>
                    </m:r>
                    <m:d>
                      <m:dPr>
                        <m:ctrlP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190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1900" i="1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r>
                  <a:rPr lang="ru-RU" sz="190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rPr>
                  <a:t> ,</a:t>
                </a:r>
              </a:p>
              <a:p>
                <a:r>
                  <a:rPr lang="ru-RU" sz="2400" dirty="0"/>
                  <a:t>где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ru-RU" sz="24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ru-RU" sz="2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ℎ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r>
                  <a:rPr lang="ru-RU" sz="2400" dirty="0"/>
                  <a:t> – косинусное сходство нормализованных гистограмм;</a:t>
                </a:r>
              </a:p>
              <a:p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𝑡𝑎𝑔𝑜𝑣𝑒𝑟𝑙𝑎𝑝</m:t>
                    </m:r>
                    <m:d>
                      <m:d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4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ru-RU" sz="2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∩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num>
                      <m:den>
                        <m:d>
                          <m:dPr>
                            <m:begChr m:val="|"/>
                            <m:endChr m:val="|"/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400">
                                <a:latin typeface="Cambria Math" panose="02040503050406030204" pitchFamily="18" charset="0"/>
                              </a:rPr>
                              <m:t>∪</m:t>
                            </m:r>
                            <m:sSub>
                              <m:sSubPr>
                                <m:ctrlPr>
                                  <a:rPr lang="ru-RU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ru-RU" sz="24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/>
                  <a:t>– коэффициент </a:t>
                </a:r>
                <a:r>
                  <a:rPr lang="ru-RU" sz="2400" dirty="0" err="1"/>
                  <a:t>Жаккара</a:t>
                </a:r>
                <a:r>
                  <a:rPr lang="ru-RU" sz="2400" dirty="0"/>
                  <a:t> для множества обнаруженных объектов;</a:t>
                </a:r>
              </a:p>
              <a:p>
                <a14:m>
                  <m:oMath xmlns:m="http://schemas.openxmlformats.org/officeDocument/2006/math">
                    <m:r>
                      <a:rPr lang="ru-RU" sz="2400" i="1">
                        <a:latin typeface="Cambria Math" panose="02040503050406030204" pitchFamily="18" charset="0"/>
                      </a:rPr>
                      <m:t>𝑐𝑜𝑙𝑜𝑟𝑠𝑖𝑚</m:t>
                    </m:r>
                    <m:d>
                      <m:d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ru-RU" sz="24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  <m:r>
                      <a:rPr lang="ru-RU" sz="2400">
                        <a:latin typeface="Cambria Math" panose="02040503050406030204" pitchFamily="18" charset="0"/>
                      </a:rPr>
                      <m:t>=1−</m:t>
                    </m:r>
                    <m:f>
                      <m:f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ℛ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ℛ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ru-RU" sz="2400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𝒢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𝒢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ru-RU" sz="2400">
                            <a:latin typeface="Cambria Math" panose="02040503050406030204" pitchFamily="18" charset="0"/>
                          </a:rPr>
                          <m:t>+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ru-RU" sz="2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ℬ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40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ru-RU" sz="2400">
                                    <a:latin typeface="Cambria Math" panose="02040503050406030204" pitchFamily="18" charset="0"/>
                                  </a:rPr>
                                  <m:t>ℬ</m:t>
                                </m:r>
                              </m:e>
                              <m:sub>
                                <m:r>
                                  <a:rPr lang="ru-RU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ru-RU" sz="2400">
                            <a:latin typeface="Cambria Math" panose="02040503050406030204" pitchFamily="18" charset="0"/>
                          </a:rPr>
                          <m:t>3∗255</m:t>
                        </m:r>
                      </m:den>
                    </m:f>
                  </m:oMath>
                </a14:m>
                <a:r>
                  <a:rPr lang="ru-RU" sz="2400" dirty="0"/>
                  <a:t> – нормализованное сходство средних цветов.</a:t>
                </a:r>
              </a:p>
              <a:p>
                <a:r>
                  <a:rPr lang="en-US" sz="2400" dirty="0" err="1"/>
                  <a:t>Весовые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коэффициенты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подобраны</a:t>
                </a:r>
                <a:r>
                  <a:rPr lang="en-US" sz="2400" dirty="0"/>
                  <a:t> </a:t>
                </a:r>
                <a:r>
                  <a:rPr lang="en-US" sz="2400" dirty="0" err="1"/>
                  <a:t>экспертно</a:t>
                </a:r>
                <a:r>
                  <a:rPr lang="en-US" sz="2400" dirty="0"/>
                  <a:t>: w</a:t>
                </a:r>
                <a:r>
                  <a:rPr lang="en-US" sz="2400" baseline="-25000" dirty="0"/>
                  <a:t>1</a:t>
                </a:r>
                <a:r>
                  <a:rPr lang="en-US" sz="2400" dirty="0"/>
                  <a:t> = 0</a:t>
                </a:r>
                <a:r>
                  <a:rPr lang="ru-RU" sz="2400" dirty="0"/>
                  <a:t>,</a:t>
                </a:r>
                <a:r>
                  <a:rPr lang="en-US" sz="2400" dirty="0"/>
                  <a:t>5, w</a:t>
                </a:r>
                <a:r>
                  <a:rPr lang="en-US" sz="2400" baseline="-25000" dirty="0"/>
                  <a:t>2</a:t>
                </a:r>
                <a:r>
                  <a:rPr lang="en-US" sz="2400" dirty="0"/>
                  <a:t> = 0</a:t>
                </a:r>
                <a:r>
                  <a:rPr lang="ru-RU" sz="2400" dirty="0"/>
                  <a:t>,</a:t>
                </a:r>
                <a:r>
                  <a:rPr lang="en-US" sz="2400" dirty="0"/>
                  <a:t>3, w</a:t>
                </a:r>
                <a:r>
                  <a:rPr lang="en-US" sz="2400" baseline="-25000" dirty="0"/>
                  <a:t>3</a:t>
                </a:r>
                <a:r>
                  <a:rPr lang="en-US" sz="2400" dirty="0"/>
                  <a:t> = 0</a:t>
                </a:r>
                <a:r>
                  <a:rPr lang="ru-RU" sz="2400" dirty="0"/>
                  <a:t>,</a:t>
                </a:r>
                <a:r>
                  <a:rPr lang="en-US" sz="2400" dirty="0"/>
                  <a:t>2.</a:t>
                </a:r>
                <a:endParaRPr lang="ru-RU" sz="2400" dirty="0">
                  <a:solidFill>
                    <a:schemeClr val="tx1">
                      <a:lumMod val="85000"/>
                      <a:lumOff val="15000"/>
                    </a:schemeClr>
                  </a:solidFill>
                </a:endParaRPr>
              </a:p>
              <a:p>
                <a:endParaRPr lang="ru-RU" dirty="0"/>
              </a:p>
            </p:txBody>
          </p:sp>
        </mc:Choice>
        <mc:Fallback>
          <p:sp>
            <p:nvSpPr>
              <p:cNvPr id="2" name="Объект 1">
                <a:extLst>
                  <a:ext uri="{FF2B5EF4-FFF2-40B4-BE49-F238E27FC236}">
                    <a16:creationId xmlns:a16="http://schemas.microsoft.com/office/drawing/2014/main" id="{6EEF907E-E10F-DC36-625A-BEEFF3AD39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217920" y="1845735"/>
                <a:ext cx="5445162" cy="4023360"/>
              </a:xfrm>
              <a:blipFill>
                <a:blip r:embed="rId3"/>
                <a:stretch>
                  <a:fillRect l="-1120" t="-2879" r="-12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ABF4D-3A2A-4502-9549-88D254DF3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916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26288A-C798-F4E4-7319-34476907E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520" y="286603"/>
            <a:ext cx="7397454" cy="1450757"/>
          </a:xfrm>
        </p:spPr>
        <p:txBody>
          <a:bodyPr/>
          <a:lstStyle/>
          <a:p>
            <a:r>
              <a:rPr lang="ru-RU" dirty="0"/>
              <a:t>Алгоритм обучения модели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6F6F31-5BAD-40DF-07A1-051445A96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519" y="1818043"/>
            <a:ext cx="7112822" cy="4402666"/>
          </a:xfrm>
        </p:spPr>
        <p:txBody>
          <a:bodyPr>
            <a:noAutofit/>
          </a:bodyPr>
          <a:lstStyle/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Подключение к MySQL, загрузка данных о работах, категориях, лайках и комментариях.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Создание </a:t>
            </a:r>
            <a:r>
              <a:rPr lang="ru-RU" sz="1800" dirty="0" err="1"/>
              <a:t>датафрейма</a:t>
            </a:r>
            <a:r>
              <a:rPr lang="ru-RU" sz="1800" dirty="0"/>
              <a:t> </a:t>
            </a:r>
            <a:r>
              <a:rPr lang="ru-RU" sz="1800" dirty="0" err="1"/>
              <a:t>interactions_df</a:t>
            </a:r>
            <a:r>
              <a:rPr lang="ru-RU" sz="1800" dirty="0"/>
              <a:t> с колонками </a:t>
            </a:r>
            <a:r>
              <a:rPr lang="ru-RU" sz="1800" dirty="0" err="1"/>
              <a:t>user_id</a:t>
            </a:r>
            <a:r>
              <a:rPr lang="ru-RU" sz="1800" dirty="0"/>
              <a:t>, </a:t>
            </a:r>
            <a:r>
              <a:rPr lang="ru-RU" sz="1800" dirty="0" err="1"/>
              <a:t>artwork_id</a:t>
            </a:r>
            <a:r>
              <a:rPr lang="ru-RU" sz="1800" dirty="0"/>
              <a:t>, </a:t>
            </a:r>
            <a:r>
              <a:rPr lang="ru-RU" sz="1800" dirty="0" err="1"/>
              <a:t>rating</a:t>
            </a:r>
            <a:r>
              <a:rPr lang="ru-RU" sz="1800" dirty="0"/>
              <a:t> (лайк = 1.0, комментарий = 0.5).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Разделение данных на обучающую (75%) и тестовую (25%) выборки.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Построение TF-IDF матрицы для текстовых строк «автор + категории», вычисление матрицы косинусного сходства </a:t>
            </a:r>
            <a:r>
              <a:rPr lang="ru-RU" sz="1800" dirty="0" err="1"/>
              <a:t>content_sim</a:t>
            </a:r>
            <a:r>
              <a:rPr lang="ru-RU" sz="1800" dirty="0"/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Обучение SVD на обучающей выборке с помощью </a:t>
            </a:r>
            <a:r>
              <a:rPr lang="ru-RU" sz="1800" dirty="0" err="1"/>
              <a:t>SimpleSVD</a:t>
            </a:r>
            <a:r>
              <a:rPr lang="ru-RU" sz="1800" dirty="0"/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Оценка качества на тестовой выборке по метрикам Precision@5, Recall@5, </a:t>
            </a:r>
            <a:r>
              <a:rPr lang="ru-RU" sz="1800" dirty="0" err="1"/>
              <a:t>Coverage</a:t>
            </a:r>
            <a:r>
              <a:rPr lang="ru-RU" sz="1800" dirty="0"/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Сериализация модели (SVD, </a:t>
            </a:r>
            <a:r>
              <a:rPr lang="ru-RU" sz="1800" dirty="0" err="1"/>
              <a:t>content_sim</a:t>
            </a:r>
            <a:r>
              <a:rPr lang="ru-RU" sz="1800" dirty="0"/>
              <a:t>, </a:t>
            </a:r>
            <a:r>
              <a:rPr lang="ru-RU" sz="1800" dirty="0" err="1"/>
              <a:t>artworks_df</a:t>
            </a:r>
            <a:r>
              <a:rPr lang="ru-RU" sz="1800" dirty="0"/>
              <a:t>, </a:t>
            </a:r>
            <a:r>
              <a:rPr lang="ru-RU" sz="1800" dirty="0" err="1"/>
              <a:t>interactions_df</a:t>
            </a:r>
            <a:r>
              <a:rPr lang="ru-RU" sz="1800" dirty="0"/>
              <a:t>) в </a:t>
            </a:r>
            <a:r>
              <a:rPr lang="ru-RU" sz="1800" dirty="0" err="1"/>
              <a:t>recommendation_model.pkl</a:t>
            </a:r>
            <a:r>
              <a:rPr lang="ru-RU" sz="1800" dirty="0"/>
              <a:t>.</a:t>
            </a:r>
          </a:p>
          <a:p>
            <a:pPr marL="342900" indent="-342900">
              <a:spcBef>
                <a:spcPts val="600"/>
              </a:spcBef>
              <a:buFont typeface="+mj-lt"/>
              <a:buAutoNum type="arabicPeriod"/>
            </a:pPr>
            <a:r>
              <a:rPr lang="ru-RU" sz="1800" dirty="0"/>
              <a:t>Сохранение метаданных (время обучения, метрики, параметры) в </a:t>
            </a:r>
            <a:r>
              <a:rPr lang="ru-RU" sz="1800" dirty="0" err="1"/>
              <a:t>model_metadata.json</a:t>
            </a:r>
            <a:r>
              <a:rPr lang="ru-RU" sz="1800" dirty="0"/>
              <a:t>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3F09A4C-DE36-BD37-C3B2-A63A69971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11</a:t>
            </a:fld>
            <a:endParaRPr lang="ru-RU" sz="2000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BB34557-04FC-8DD6-C7E3-6B0BB6610C1A}"/>
              </a:ext>
            </a:extLst>
          </p:cNvPr>
          <p:cNvSpPr/>
          <p:nvPr/>
        </p:nvSpPr>
        <p:spPr>
          <a:xfrm>
            <a:off x="7489341" y="1646257"/>
            <a:ext cx="3914775" cy="2628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3EBD257-908C-51FF-CAB6-11B220D0E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3973" y="770894"/>
            <a:ext cx="4252970" cy="5316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745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BC73FA-B6DA-4673-D1C2-CC5998EF9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47044DC-3343-5200-A048-D93C7870BB6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Список рекомендаций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8EF5F4A-9714-8A7A-C3BB-B048BDAC9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12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0007E17-B862-7022-16CF-FA0FBF68F7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9819" y="157605"/>
            <a:ext cx="5589463" cy="314407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3394D5-ED6E-04E1-5C3C-9F76A27CDE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162" y="3316098"/>
            <a:ext cx="5588776" cy="31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094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DA90-3AF4-02F8-6D77-F33B9E452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FB03FA-5638-AA71-5869-13B8F9F9B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8FE08459-C6B6-1D50-B898-F00D4CF5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Детали публикации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E715E7D-D36B-8E0D-CA16-B01FBAD28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13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614CCEB-DBEC-BB27-8CB9-C9C5E45D57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667" y="157479"/>
            <a:ext cx="5587766" cy="314432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D526A9E-DE9C-2FCA-53C3-34B54BC776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20869" y="3316098"/>
            <a:ext cx="5587362" cy="314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1943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1729A-3FA6-EE67-9B73-007088337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DF4592-126C-6C21-6E33-9FE17F528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Реализованные страницы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295C10A-7923-6429-B2F0-719C4377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ru-RU" dirty="0"/>
              <a:t>Админ-панель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7A448EB-2679-DCD4-0414-445DDBDF9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14</a:t>
            </a:fld>
            <a:endParaRPr lang="ru-RU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9733D50-6EE6-03FA-BFA1-6AA9CD5F59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26327" y="1402147"/>
            <a:ext cx="7208473" cy="4053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856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ABBE527E-071E-047D-BABE-435F1176E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Тестирование</a:t>
            </a:r>
          </a:p>
        </p:txBody>
      </p:sp>
      <p:graphicFrame>
        <p:nvGraphicFramePr>
          <p:cNvPr id="13" name="Объект 12">
            <a:extLst>
              <a:ext uri="{FF2B5EF4-FFF2-40B4-BE49-F238E27FC236}">
                <a16:creationId xmlns:a16="http://schemas.microsoft.com/office/drawing/2014/main" id="{E6CD6AFD-E64C-B785-8D35-9A084D6F153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229001994"/>
              </p:ext>
            </p:extLst>
          </p:nvPr>
        </p:nvGraphicFramePr>
        <p:xfrm>
          <a:off x="5676900" y="2092508"/>
          <a:ext cx="5478780" cy="356559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65044">
                  <a:extLst>
                    <a:ext uri="{9D8B030D-6E8A-4147-A177-3AD203B41FA5}">
                      <a16:colId xmlns:a16="http://schemas.microsoft.com/office/drawing/2014/main" val="3120371877"/>
                    </a:ext>
                  </a:extLst>
                </a:gridCol>
                <a:gridCol w="1413736">
                  <a:extLst>
                    <a:ext uri="{9D8B030D-6E8A-4147-A177-3AD203B41FA5}">
                      <a16:colId xmlns:a16="http://schemas.microsoft.com/office/drawing/2014/main" val="2289206948"/>
                    </a:ext>
                  </a:extLst>
                </a:gridCol>
              </a:tblGrid>
              <a:tr h="225136">
                <a:tc>
                  <a:txBody>
                    <a:bodyPr/>
                    <a:lstStyle/>
                    <a:p>
                      <a:pPr marL="10795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Показатель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 algn="ctr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Значение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60278353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Количество запросов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190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726377097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ru-RU" sz="1800">
                          <a:effectLst/>
                        </a:rPr>
                        <a:t>Среднее время отклика (</a:t>
                      </a:r>
                      <a:r>
                        <a:rPr lang="en-US" sz="1800">
                          <a:effectLst/>
                        </a:rPr>
                        <a:t>Average</a:t>
                      </a:r>
                      <a:r>
                        <a:rPr lang="ru-RU" sz="1800">
                          <a:effectLst/>
                        </a:rPr>
                        <a:t>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2 889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178520898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Медиана (Median),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2 853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108703512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90-й перцентиль (90%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3 477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137046591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95-й перцентиль (95%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3 652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669541285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99-й перцентиль (99% Line),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3 759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130241131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Минимальное время,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443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1140695519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Максимальное время, мс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3861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402843271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Процент ошибок (Error %)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>
                          <a:effectLst/>
                        </a:rPr>
                        <a:t>4,74%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3886770304"/>
                  </a:ext>
                </a:extLst>
              </a:tr>
              <a:tr h="225136"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ru-RU" sz="1800">
                          <a:effectLst/>
                        </a:rPr>
                        <a:t>Пропускная способность (</a:t>
                      </a:r>
                      <a:r>
                        <a:rPr lang="en-US" sz="1800">
                          <a:effectLst/>
                        </a:rPr>
                        <a:t>Throughput</a:t>
                      </a:r>
                      <a:r>
                        <a:rPr lang="ru-RU" sz="1800">
                          <a:effectLst/>
                        </a:rPr>
                        <a:t>), запросов/с</a:t>
                      </a:r>
                      <a:endParaRPr lang="ru-RU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tc>
                  <a:txBody>
                    <a:bodyPr/>
                    <a:lstStyle/>
                    <a:p>
                      <a:pPr marL="107950">
                        <a:lnSpc>
                          <a:spcPct val="115000"/>
                        </a:lnSpc>
                        <a:buNone/>
                      </a:pPr>
                      <a:r>
                        <a:rPr lang="en-US" sz="1800" dirty="0">
                          <a:effectLst/>
                        </a:rPr>
                        <a:t>3.9</a:t>
                      </a:r>
                      <a:endParaRPr lang="ru-RU" sz="12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53914" marR="53914" marT="0" marB="0"/>
                </a:tc>
                <a:extLst>
                  <a:ext uri="{0D108BD9-81ED-4DB2-BD59-A6C34878D82A}">
                    <a16:rowId xmlns:a16="http://schemas.microsoft.com/office/drawing/2014/main" val="2405892098"/>
                  </a:ext>
                </a:extLst>
              </a:tr>
            </a:tbl>
          </a:graphicData>
        </a:graphic>
      </p:graphicFrame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5AF4B01-0EAC-CEA7-CE54-6D056977C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t>15</a:t>
            </a:fld>
            <a:endParaRPr lang="ru-RU"/>
          </a:p>
        </p:txBody>
      </p:sp>
      <p:pic>
        <p:nvPicPr>
          <p:cNvPr id="12" name="Объект 11">
            <a:extLst>
              <a:ext uri="{FF2B5EF4-FFF2-40B4-BE49-F238E27FC236}">
                <a16:creationId xmlns:a16="http://schemas.microsoft.com/office/drawing/2014/main" id="{B5B9EE54-414C-89EE-AF7D-C16F7FDA7C5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7280" y="1841249"/>
            <a:ext cx="4017411" cy="417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965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AA99C4-656D-738D-FAC3-1E2981C9D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Информационный менеджмент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0FF571-4BDD-D213-0290-F84918A0A4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88720" y="2201438"/>
            <a:ext cx="4937760" cy="3192431"/>
          </a:xfrm>
        </p:spPr>
        <p:txBody>
          <a:bodyPr/>
          <a:lstStyle/>
          <a:p>
            <a:r>
              <a:rPr lang="ru-RU" dirty="0"/>
              <a:t>Примерная стоимость разработки: 140 тыс. руб.</a:t>
            </a:r>
          </a:p>
          <a:p>
            <a:r>
              <a:rPr lang="ru-RU" dirty="0"/>
              <a:t>Примерная стоимость содержания системы с модулем рекомендаций (за 6 месяцев): 60 тыс. руб.</a:t>
            </a:r>
          </a:p>
          <a:p>
            <a:r>
              <a:rPr lang="ru-RU" dirty="0"/>
              <a:t>Время разработки: 6 месяцев</a:t>
            </a:r>
          </a:p>
          <a:p>
            <a:r>
              <a:rPr lang="ru-RU" dirty="0"/>
              <a:t>Организационные документы: устав, ИСР, календарный план, матрица RACI, реестр рисков, план изменений</a:t>
            </a:r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2C28450-9C7B-EE7E-597D-24481B1EB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16</a:t>
            </a:fld>
            <a:endParaRPr lang="ru-RU" dirty="0"/>
          </a:p>
        </p:txBody>
      </p:sp>
      <p:graphicFrame>
        <p:nvGraphicFramePr>
          <p:cNvPr id="8" name="Объект 7">
            <a:extLst>
              <a:ext uri="{FF2B5EF4-FFF2-40B4-BE49-F238E27FC236}">
                <a16:creationId xmlns:a16="http://schemas.microsoft.com/office/drawing/2014/main" id="{1CD45BCA-FD8E-03C7-3DE3-77E38F5BB03A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3752714"/>
              </p:ext>
            </p:extLst>
          </p:nvPr>
        </p:nvGraphicFramePr>
        <p:xfrm>
          <a:off x="6885211" y="1799973"/>
          <a:ext cx="4270469" cy="1254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2" name="Объект 7">
            <a:extLst>
              <a:ext uri="{FF2B5EF4-FFF2-40B4-BE49-F238E27FC236}">
                <a16:creationId xmlns:a16="http://schemas.microsoft.com/office/drawing/2014/main" id="{6C24B255-2A45-9341-DCFD-9BAD4ED4699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41377121"/>
              </p:ext>
            </p:extLst>
          </p:nvPr>
        </p:nvGraphicFramePr>
        <p:xfrm>
          <a:off x="6885208" y="4360907"/>
          <a:ext cx="4270469" cy="1254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13" name="Объект 7">
            <a:extLst>
              <a:ext uri="{FF2B5EF4-FFF2-40B4-BE49-F238E27FC236}">
                <a16:creationId xmlns:a16="http://schemas.microsoft.com/office/drawing/2014/main" id="{F4B443A0-B596-17B5-7688-E40DD6BF78B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83857467"/>
              </p:ext>
            </p:extLst>
          </p:nvPr>
        </p:nvGraphicFramePr>
        <p:xfrm>
          <a:off x="6885207" y="3043431"/>
          <a:ext cx="4270469" cy="1254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9150A9C4-BD35-75CD-2681-987DB0104716}"/>
              </a:ext>
            </a:extLst>
          </p:cNvPr>
          <p:cNvSpPr txBox="1"/>
          <p:nvPr/>
        </p:nvSpPr>
        <p:spPr>
          <a:xfrm>
            <a:off x="6885209" y="5657286"/>
            <a:ext cx="42704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-91440" algn="ctr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rgbClr val="92278F"/>
              </a:buClr>
              <a:buSzPct val="100000"/>
              <a:buFont typeface="Calibri" panose="020F0502020204030204" pitchFamily="34" charset="0"/>
              <a:buChar char=" "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Риски и их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851192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6F2C38-2215-CCAC-CDE1-322030D06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51E84F8-70E8-4394-736D-5E1E50481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4091" y="1863664"/>
            <a:ext cx="6575204" cy="4402666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ru-RU" sz="1600" dirty="0"/>
              <a:t>Практическая ценность: готовый продукт для арт-пространств и образовательных учреждений. Гибридный подход и </a:t>
            </a:r>
            <a:r>
              <a:rPr lang="ru-RU" sz="1600" dirty="0" err="1"/>
              <a:t>OpenCLIP</a:t>
            </a:r>
            <a:r>
              <a:rPr lang="ru-RU" sz="1600" dirty="0"/>
              <a:t> применимы в смежных проектах.</a:t>
            </a:r>
            <a:endParaRPr lang="en-US" sz="1600" dirty="0"/>
          </a:p>
          <a:p>
            <a:pPr>
              <a:spcBef>
                <a:spcPts val="600"/>
              </a:spcBef>
            </a:pPr>
            <a:r>
              <a:rPr lang="ru-RU" sz="1600" dirty="0"/>
              <a:t>Направления развития: переход к постоянно работающему Python-серверу, кэширование, расширение меток для </a:t>
            </a:r>
            <a:r>
              <a:rPr lang="ru-RU" sz="1600" dirty="0" err="1"/>
              <a:t>OpenCLIP</a:t>
            </a:r>
            <a:r>
              <a:rPr lang="ru-RU" sz="1600" dirty="0"/>
              <a:t>, улучшение метрик, внедрение A/B-тестирования.</a:t>
            </a:r>
          </a:p>
          <a:p>
            <a:pPr>
              <a:spcBef>
                <a:spcPts val="600"/>
              </a:spcBef>
            </a:pPr>
            <a:r>
              <a:rPr lang="ru-RU" sz="1600" dirty="0"/>
              <a:t>Система работоспособна и имеет потенциал для дальнейшего развития.</a:t>
            </a:r>
          </a:p>
          <a:p>
            <a:pPr>
              <a:spcBef>
                <a:spcPts val="600"/>
              </a:spcBef>
            </a:pPr>
            <a:r>
              <a:rPr lang="ru-RU" sz="1600" dirty="0"/>
              <a:t>Статьи: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ru-RU" sz="1600" dirty="0"/>
              <a:t>Шутова, Т. Е. Разработка рекомендательных систем с применением методов машинного обучения на примере информационной системы арт-галереи / Т.Е. Шутова, В.В. Вершинин // Сборник материалов научно-практических конференций </a:t>
            </a:r>
            <a:r>
              <a:rPr lang="ru-RU" sz="1600" dirty="0" err="1"/>
              <a:t>ВлГУ</a:t>
            </a:r>
            <a:r>
              <a:rPr lang="ru-RU" sz="1600" dirty="0"/>
              <a:t>. — 2026. (Принято к публикации)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ru-RU" sz="1600" dirty="0"/>
              <a:t>Шутова, Т. Е. Интеграция модуля машинного обучения на основе коллаборативной и контентной фильтрации в веб-приложение / Т.Е. Шутова, М.И. Озерова // Сборник материалов III Международного форума «ИТ. НАУКА. КРЕАТИВ». — 2026. (Принято к публикации)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B1D601F-B436-4772-EF92-EC19C4B09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973314-C3AC-487C-8E31-FDBE340A6F4C}" type="slidenum">
              <a:rPr lang="ru-RU" smtClean="0"/>
              <a:pPr/>
              <a:t>17</a:t>
            </a:fld>
            <a:endParaRPr lang="ru-RU" sz="20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99E426-1A45-B414-B00B-9BA1377952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4977" y="1863664"/>
            <a:ext cx="2960703" cy="418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2601828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Фиолетовый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480</TotalTime>
  <Words>1213</Words>
  <Application>Microsoft Office PowerPoint</Application>
  <PresentationFormat>Широкоэкранный</PresentationFormat>
  <Paragraphs>189</Paragraphs>
  <Slides>17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Calibri</vt:lpstr>
      <vt:lpstr>Calibri Light</vt:lpstr>
      <vt:lpstr>Cambria Math</vt:lpstr>
      <vt:lpstr>Times New Roman</vt:lpstr>
      <vt:lpstr>Ретро</vt:lpstr>
      <vt:lpstr>Информационная система арт галереи. Модуль рекомендаций</vt:lpstr>
      <vt:lpstr>Введение</vt:lpstr>
      <vt:lpstr>Цели и задачи</vt:lpstr>
      <vt:lpstr>Сравнительный анализ</vt:lpstr>
      <vt:lpstr>Анализ требований</vt:lpstr>
      <vt:lpstr>Архитектура системы</vt:lpstr>
      <vt:lpstr>Диаграмма развёртывания</vt:lpstr>
      <vt:lpstr>Диаграмма прецедентов</vt:lpstr>
      <vt:lpstr>ER-диаграмма</vt:lpstr>
      <vt:lpstr>Математическая модель рекомендаций</vt:lpstr>
      <vt:lpstr>Алгоритм обучения модели</vt:lpstr>
      <vt:lpstr>Реализованные страницы</vt:lpstr>
      <vt:lpstr>Реализованные страницы</vt:lpstr>
      <vt:lpstr>Реализованные страницы</vt:lpstr>
      <vt:lpstr>Тестирование</vt:lpstr>
      <vt:lpstr>Информационный менеджмент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</dc:creator>
  <cp:lastModifiedBy>1</cp:lastModifiedBy>
  <cp:revision>34</cp:revision>
  <dcterms:created xsi:type="dcterms:W3CDTF">2026-05-25T20:58:57Z</dcterms:created>
  <dcterms:modified xsi:type="dcterms:W3CDTF">2026-06-21T16:21:24Z</dcterms:modified>
</cp:coreProperties>
</file>